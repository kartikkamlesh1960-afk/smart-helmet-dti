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4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4" r:id="rId2"/>
    <p:sldId id="275" r:id="rId3"/>
    <p:sldId id="276" r:id="rId4"/>
    <p:sldId id="273" r:id="rId5"/>
    <p:sldId id="277" r:id="rId6"/>
    <p:sldId id="278" r:id="rId7"/>
    <p:sldId id="279" r:id="rId8"/>
    <p:sldId id="289" r:id="rId9"/>
    <p:sldId id="283" r:id="rId10"/>
    <p:sldId id="284" r:id="rId11"/>
    <p:sldId id="290" r:id="rId12"/>
    <p:sldId id="286" r:id="rId13"/>
    <p:sldId id="280" r:id="rId14"/>
    <p:sldId id="256" r:id="rId15"/>
    <p:sldId id="257" r:id="rId16"/>
    <p:sldId id="258" r:id="rId17"/>
    <p:sldId id="291" r:id="rId23"/>
    <p:sldId id="292" r:id="rId24"/>
    <p:sldId id="293" r:id="rId25"/>
    <p:sldId id="294" r:id="rId26"/>
    <p:sldId id="295" r:id="rId2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78" y="1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Respondents (%)</c:v>
                </c:pt>
              </c:strCache>
            </c:strRef>
          </c:tx>
          <c:dPt>
            <c:idx val="0"/>
            <c:spPr>
              <a:solidFill>
                <a:srgbClr val="1FB57A"/>
              </a:solidFill>
            </c:spPr>
          </c:dPt>
          <c:dPt>
            <c:idx val="1"/>
            <c:spPr>
              <a:solidFill>
                <a:srgbClr val="2F93E0"/>
              </a:solidFill>
            </c:spPr>
          </c:dPt>
          <c:dPt>
            <c:idx val="2"/>
            <c:spPr>
              <a:solidFill>
                <a:srgbClr val="2F93E0"/>
              </a:solidFill>
            </c:spPr>
          </c:dPt>
          <c:dPt>
            <c:idx val="3"/>
            <c:spPr>
              <a:solidFill>
                <a:srgbClr val="E24B5A"/>
              </a:solidFill>
            </c:spPr>
          </c:dPt>
          <c:dPt>
            <c:idx val="4"/>
            <c:spPr>
              <a:solidFill>
                <a:srgbClr val="F09A1A"/>
              </a:solidFill>
            </c:spPr>
          </c:dPt>
          <c:dPt>
            <c:idx val="5"/>
            <c:spPr>
              <a:solidFill>
                <a:srgbClr val="F09A1A"/>
              </a:solidFill>
            </c:spPr>
          </c:dPt>
          <c:cat>
            <c:strRef>
              <c:f>Sheet1!$A$2:$A$7</c:f>
              <c:strCache>
                <c:ptCount val="6"/>
                <c:pt idx="0">
                  <c:v>Would use a smart helmet</c:v>
                </c:pt>
                <c:pt idx="1">
                  <c:v>Emergency alerts useful</c:v>
                </c:pt>
                <c:pt idx="2">
                  <c:v>Blind-spot help useful</c:v>
                </c:pt>
                <c:pt idx="3">
                  <c:v>Accident detection useful</c:v>
                </c:pt>
                <c:pt idx="4">
                  <c:v>Heat / sweating barrier</c:v>
                </c:pt>
                <c:pt idx="5">
                  <c:v>Alcohol detection top pick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73.7</c:v>
                </c:pt>
                <c:pt idx="1">
                  <c:v>70.5</c:v>
                </c:pt>
                <c:pt idx="2">
                  <c:v>70.5</c:v>
                </c:pt>
                <c:pt idx="3">
                  <c:v>58.9</c:v>
                </c:pt>
                <c:pt idx="4">
                  <c:v>33.3</c:v>
                </c:pt>
                <c:pt idx="5">
                  <c:v>26.3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300" b="1">
                  <a:solidFill>
                    <a:srgbClr val="1B2A4A"/>
                  </a:solidFill>
                  <a:latin typeface="In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1B2A4A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8461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7860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forms.gle/zMrdHVcHeFuwygoZ6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hyperlink" Target="https://patents.google.com/patent/US20220047028A1/en?utm_source=chatgpt.com" TargetMode="External"/><Relationship Id="rId4" Type="http://schemas.openxmlformats.org/officeDocument/2006/relationships/hyperlink" Target="https://patents.google.com/patent/US20190357618A1/en?utm_source=chatgpt.com" TargetMode="External"/><Relationship Id="rId5" Type="http://schemas.openxmlformats.org/officeDocument/2006/relationships/hyperlink" Target="https://patents.google.com/patent/US10897947B2/en?utm_source=chatgpt.com" TargetMode="External"/><Relationship Id="rId6" Type="http://schemas.openxmlformats.org/officeDocument/2006/relationships/hyperlink" Target="https://patents.google.com/patent/US11406152B2/en?utm_source=chatgpt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Relationship Id="rId12" Type="http://schemas.openxmlformats.org/officeDocument/2006/relationships/image" Target="../media/image41.png"/><Relationship Id="rId13" Type="http://schemas.openxmlformats.org/officeDocument/2006/relationships/image" Target="../media/image42.svg"/><Relationship Id="rId14" Type="http://schemas.openxmlformats.org/officeDocument/2006/relationships/image" Target="../media/image43.png"/><Relationship Id="rId15" Type="http://schemas.openxmlformats.org/officeDocument/2006/relationships/image" Target="../media/image44.png"/><Relationship Id="rId16" Type="http://schemas.openxmlformats.org/officeDocument/2006/relationships/image" Target="../media/image45.png"/><Relationship Id="rId17" Type="http://schemas.openxmlformats.org/officeDocument/2006/relationships/image" Target="../media/image46.png"/><Relationship Id="rId18" Type="http://schemas.openxmlformats.org/officeDocument/2006/relationships/image" Target="../media/image47.png"/><Relationship Id="rId19" Type="http://schemas.openxmlformats.org/officeDocument/2006/relationships/image" Target="../media/image48.png"/><Relationship Id="rId20" Type="http://schemas.openxmlformats.org/officeDocument/2006/relationships/image" Target="../media/image49.png"/><Relationship Id="rId21" Type="http://schemas.openxmlformats.org/officeDocument/2006/relationships/image" Target="../media/image50.png"/><Relationship Id="rId22" Type="http://schemas.openxmlformats.org/officeDocument/2006/relationships/image" Target="../media/image5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chart" Target="../charts/char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Relationship Id="rId11" Type="http://schemas.openxmlformats.org/officeDocument/2006/relationships/image" Target="../media/image60.png"/><Relationship Id="rId12" Type="http://schemas.openxmlformats.org/officeDocument/2006/relationships/image" Target="../media/image61.png"/><Relationship Id="rId13" Type="http://schemas.openxmlformats.org/officeDocument/2006/relationships/image" Target="../media/image62.png"/><Relationship Id="rId14" Type="http://schemas.openxmlformats.org/officeDocument/2006/relationships/image" Target="../media/image63.png"/><Relationship Id="rId15" Type="http://schemas.openxmlformats.org/officeDocument/2006/relationships/image" Target="../media/image64.png"/><Relationship Id="rId16" Type="http://schemas.openxmlformats.org/officeDocument/2006/relationships/image" Target="../media/image65.png"/><Relationship Id="rId17" Type="http://schemas.openxmlformats.org/officeDocument/2006/relationships/image" Target="../media/image66.png"/><Relationship Id="rId18" Type="http://schemas.openxmlformats.org/officeDocument/2006/relationships/image" Target="../media/image67.png"/><Relationship Id="rId19" Type="http://schemas.openxmlformats.org/officeDocument/2006/relationships/image" Target="../media/image68.png"/><Relationship Id="rId20" Type="http://schemas.openxmlformats.org/officeDocument/2006/relationships/image" Target="../media/image69.png"/><Relationship Id="rId21" Type="http://schemas.openxmlformats.org/officeDocument/2006/relationships/image" Target="../media/image70.png"/><Relationship Id="rId22" Type="http://schemas.openxmlformats.org/officeDocument/2006/relationships/image" Target="../media/image71.png"/><Relationship Id="rId23" Type="http://schemas.openxmlformats.org/officeDocument/2006/relationships/image" Target="../media/image72.png"/><Relationship Id="rId24" Type="http://schemas.openxmlformats.org/officeDocument/2006/relationships/image" Target="../media/image73.png"/><Relationship Id="rId25" Type="http://schemas.openxmlformats.org/officeDocument/2006/relationships/image" Target="../media/image74.png"/><Relationship Id="rId26" Type="http://schemas.openxmlformats.org/officeDocument/2006/relationships/image" Target="../media/image75.png"/><Relationship Id="rId27" Type="http://schemas.openxmlformats.org/officeDocument/2006/relationships/image" Target="../media/image76.png"/><Relationship Id="rId28" Type="http://schemas.openxmlformats.org/officeDocument/2006/relationships/image" Target="../media/image77.png"/><Relationship Id="rId29" Type="http://schemas.openxmlformats.org/officeDocument/2006/relationships/image" Target="../media/image78.png"/><Relationship Id="rId30" Type="http://schemas.openxmlformats.org/officeDocument/2006/relationships/image" Target="../media/image79.png"/><Relationship Id="rId31" Type="http://schemas.openxmlformats.org/officeDocument/2006/relationships/image" Target="../media/image80.png"/><Relationship Id="rId32" Type="http://schemas.openxmlformats.org/officeDocument/2006/relationships/image" Target="../media/image81.png"/><Relationship Id="rId33" Type="http://schemas.openxmlformats.org/officeDocument/2006/relationships/image" Target="../media/image82.png"/><Relationship Id="rId34" Type="http://schemas.openxmlformats.org/officeDocument/2006/relationships/image" Target="../media/image83.png"/><Relationship Id="rId35" Type="http://schemas.openxmlformats.org/officeDocument/2006/relationships/image" Target="../media/image84.png"/><Relationship Id="rId36" Type="http://schemas.openxmlformats.org/officeDocument/2006/relationships/image" Target="../media/image85.png"/><Relationship Id="rId37" Type="http://schemas.openxmlformats.org/officeDocument/2006/relationships/image" Target="../media/image86.png"/><Relationship Id="rId38" Type="http://schemas.openxmlformats.org/officeDocument/2006/relationships/image" Target="../media/image87.png"/><Relationship Id="rId39" Type="http://schemas.openxmlformats.org/officeDocument/2006/relationships/image" Target="../media/image88.png"/><Relationship Id="rId40" Type="http://schemas.openxmlformats.org/officeDocument/2006/relationships/image" Target="../media/image89.png"/><Relationship Id="rId41" Type="http://schemas.openxmlformats.org/officeDocument/2006/relationships/image" Target="../media/image90.png"/><Relationship Id="rId42" Type="http://schemas.openxmlformats.org/officeDocument/2006/relationships/image" Target="../media/image9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9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93.png"/><Relationship Id="rId7" Type="http://schemas.openxmlformats.org/officeDocument/2006/relationships/image" Target="../media/image94.png"/><Relationship Id="rId8" Type="http://schemas.openxmlformats.org/officeDocument/2006/relationships/image" Target="../media/image9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1EEBA0-384A-74FA-6278-C04B1DE226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30" y="1923"/>
            <a:ext cx="18287970" cy="102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8714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C40AB7F8-4DAC-E0EB-1C5B-0889262A9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001CBCD7-AA7B-7169-E9BD-D6EBC513FDE8}"/>
              </a:ext>
            </a:extLst>
          </p:cNvPr>
          <p:cNvSpPr txBox="1"/>
          <p:nvPr/>
        </p:nvSpPr>
        <p:spPr>
          <a:xfrm>
            <a:off x="1033608" y="1390129"/>
            <a:ext cx="13551195" cy="9279463"/>
          </a:xfrm>
          <a:prstGeom prst="rect">
            <a:avLst/>
          </a:prstGeom>
          <a:noFill/>
        </p:spPr>
        <p:txBody>
          <a:bodyPr wrap="square" lIns="137160" tIns="68580" rIns="137160" bIns="68580" anchor="t">
            <a:spAutoFit/>
          </a:bodyPr>
          <a:lstStyle/>
          <a:p>
            <a:pPr marL="685800" indent="-685800">
              <a:buAutoNum type="arabicPeriod"/>
            </a:pPr>
            <a:r>
              <a:rPr lang="en-IN" sz="3600" b="1">
                <a:solidFill>
                  <a:schemeClr val="tx2">
                    <a:lumMod val="60000"/>
                    <a:lumOff val="40000"/>
                  </a:schemeClr>
                </a:solidFill>
                <a:latin typeface="Arial Black"/>
              </a:rPr>
              <a:t>Road Accidents And Delayed Response 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IN" sz="3600">
                <a:solidFill>
                  <a:srgbClr val="00B0F0"/>
                </a:solidFill>
              </a:rPr>
              <a:t> Delayed emergency assistance and unsafe riding conditions can increase     the severity of two-wheeler accidents</a:t>
            </a:r>
            <a:r>
              <a:rPr lang="en-IN" sz="3300">
                <a:solidFill>
                  <a:schemeClr val="tx2">
                    <a:lumMod val="60000"/>
                    <a:lumOff val="40000"/>
                  </a:schemeClr>
                </a:solidFill>
              </a:rPr>
              <a:t>.</a:t>
            </a:r>
            <a:endParaRPr lang="en-IN" sz="3300">
              <a:solidFill>
                <a:schemeClr val="tx2">
                  <a:lumMod val="60000"/>
                  <a:lumOff val="40000"/>
                </a:schemeClr>
              </a:solidFill>
              <a:ea typeface="Calibri"/>
              <a:cs typeface="Calibri"/>
            </a:endParaRPr>
          </a:p>
          <a:p>
            <a:endParaRPr lang="en-IN" sz="3300">
              <a:solidFill>
                <a:schemeClr val="bg1">
                  <a:lumMod val="95000"/>
                </a:schemeClr>
              </a:solidFill>
              <a:ea typeface="Calibri"/>
              <a:cs typeface="Calibri"/>
            </a:endParaRPr>
          </a:p>
          <a:p>
            <a:r>
              <a:rPr lang="en-IN" sz="3600" b="1">
                <a:solidFill>
                  <a:schemeClr val="bg1">
                    <a:lumMod val="95000"/>
                  </a:schemeClr>
                </a:solidFill>
              </a:rPr>
              <a:t>2</a:t>
            </a:r>
            <a:r>
              <a:rPr lang="en-IN" sz="3300" b="1">
                <a:solidFill>
                  <a:schemeClr val="bg1">
                    <a:lumMod val="95000"/>
                  </a:schemeClr>
                </a:solidFill>
              </a:rPr>
              <a:t>. </a:t>
            </a:r>
            <a:r>
              <a:rPr lang="en-IN" sz="3600" b="1">
                <a:solidFill>
                  <a:schemeClr val="bg1">
                    <a:lumMod val="95000"/>
                  </a:schemeClr>
                </a:solidFill>
                <a:latin typeface="Arial Black"/>
              </a:rPr>
              <a:t>Memory Gap Medicine Gap</a:t>
            </a:r>
            <a:r>
              <a:rPr lang="en-IN" sz="3600">
                <a:solidFill>
                  <a:schemeClr val="bg1">
                    <a:lumMod val="95000"/>
                  </a:schemeClr>
                </a:solidFill>
                <a:latin typeface="Arial Black"/>
              </a:rPr>
              <a:t> </a:t>
            </a:r>
            <a:endParaRPr lang="en-IN" sz="3300">
              <a:solidFill>
                <a:schemeClr val="bg1">
                  <a:lumMod val="95000"/>
                </a:schemeClr>
              </a:solidFill>
              <a:latin typeface="Calibri"/>
              <a:ea typeface="Calibri"/>
              <a:cs typeface="Calibri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IN" sz="3300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IN" sz="3600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Patients</a:t>
            </a:r>
            <a:r>
              <a:rPr lang="en-IN" sz="360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 struggle to maintain complex, multi-dose medication routines, leading to missed doses, worsening health outcomes, and increased healthcare costs</a:t>
            </a:r>
            <a:r>
              <a:rPr lang="en-IN" sz="3600" b="1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.</a:t>
            </a:r>
            <a:endParaRPr lang="en-IN" sz="3600">
              <a:solidFill>
                <a:schemeClr val="bg1">
                  <a:lumMod val="95000"/>
                </a:schemeClr>
              </a:solidFill>
              <a:ea typeface="Calibri"/>
              <a:cs typeface="Calibri"/>
            </a:endParaRPr>
          </a:p>
          <a:p>
            <a:r>
              <a:rPr lang="en-IN" sz="3600"/>
              <a:t>.</a:t>
            </a:r>
            <a:endParaRPr lang="en-IN" sz="330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IN" sz="3600" b="1">
                <a:solidFill>
                  <a:schemeClr val="bg1">
                    <a:lumMod val="95000"/>
                  </a:schemeClr>
                </a:solidFill>
              </a:rPr>
              <a:t>3</a:t>
            </a:r>
            <a:r>
              <a:rPr lang="en-IN" sz="3300" b="1">
                <a:solidFill>
                  <a:schemeClr val="bg1">
                    <a:lumMod val="95000"/>
                  </a:schemeClr>
                </a:solidFill>
              </a:rPr>
              <a:t>. </a:t>
            </a:r>
            <a:r>
              <a:rPr lang="en-IN" sz="3600" b="1">
                <a:solidFill>
                  <a:schemeClr val="bg1">
                    <a:lumMod val="95000"/>
                  </a:schemeClr>
                </a:solidFill>
                <a:latin typeface="Arial Black"/>
              </a:rPr>
              <a:t>Losing Items Inside The Campus </a:t>
            </a:r>
            <a:endParaRPr lang="en-IN" sz="3600">
              <a:solidFill>
                <a:schemeClr val="bg1">
                  <a:lumMod val="95000"/>
                </a:schemeClr>
              </a:solidFill>
              <a:latin typeface="Arial Black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IN" sz="3300">
                <a:solidFill>
                  <a:schemeClr val="bg1">
                    <a:lumMod val="95000"/>
                  </a:schemeClr>
                </a:solidFill>
              </a:rPr>
              <a:t> Students often loses their important items inside the campus i.e. in libraries, lecture halls, mess, canteens, etc.</a:t>
            </a:r>
            <a:endParaRPr lang="en-IN" sz="3300">
              <a:solidFill>
                <a:schemeClr val="bg1">
                  <a:lumMod val="95000"/>
                </a:schemeClr>
              </a:solidFill>
              <a:ea typeface="Calibri"/>
              <a:cs typeface="Calibri"/>
            </a:endParaRPr>
          </a:p>
          <a:p>
            <a:endParaRPr lang="en-IN" sz="330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IN" sz="3600" b="1">
                <a:solidFill>
                  <a:schemeClr val="bg1">
                    <a:lumMod val="95000"/>
                  </a:schemeClr>
                </a:solidFill>
              </a:rPr>
              <a:t>4</a:t>
            </a:r>
            <a:r>
              <a:rPr lang="en-IN" sz="3300" b="1">
                <a:solidFill>
                  <a:schemeClr val="bg1">
                    <a:lumMod val="95000"/>
                  </a:schemeClr>
                </a:solidFill>
              </a:rPr>
              <a:t>. </a:t>
            </a:r>
            <a:r>
              <a:rPr lang="en-IN" sz="3600" b="1">
                <a:solidFill>
                  <a:schemeClr val="bg1">
                    <a:lumMod val="95000"/>
                  </a:schemeClr>
                </a:solidFill>
                <a:latin typeface="Arial Black"/>
                <a:ea typeface="Calibri"/>
                <a:cs typeface="Calibri"/>
              </a:rPr>
              <a:t>Improper Waste  Management</a:t>
            </a:r>
            <a:r>
              <a:rPr lang="en-IN" sz="3600">
                <a:solidFill>
                  <a:schemeClr val="bg1">
                    <a:lumMod val="95000"/>
                  </a:schemeClr>
                </a:solidFill>
                <a:latin typeface="Arial Black"/>
                <a:ea typeface="Calibri"/>
                <a:cs typeface="Calibri"/>
              </a:rPr>
              <a:t> </a:t>
            </a:r>
            <a:endParaRPr lang="en-IN" sz="360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IN" sz="360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en-IN" sz="3300">
                <a:solidFill>
                  <a:schemeClr val="bg1">
                    <a:lumMod val="95000"/>
                  </a:schemeClr>
                </a:solidFill>
              </a:rPr>
              <a:t>Improper waste segregation and overflowing bins create hygiene and environmental problems.</a:t>
            </a:r>
          </a:p>
          <a:p>
            <a:endParaRPr lang="en-IN" sz="33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4B3427-0AD2-F9E1-E3C1-3EFD43C5D6B0}"/>
              </a:ext>
            </a:extLst>
          </p:cNvPr>
          <p:cNvSpPr txBox="1"/>
          <p:nvPr/>
        </p:nvSpPr>
        <p:spPr>
          <a:xfrm>
            <a:off x="1233300" y="221858"/>
            <a:ext cx="7695315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250" u="sng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pitchFamily="82" charset="0"/>
              </a:rPr>
              <a:t>NUMBER OF PROBLEMS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72552A-E08B-CE93-5AD8-683C6C1F6A1D}"/>
              </a:ext>
            </a:extLst>
          </p:cNvPr>
          <p:cNvSpPr/>
          <p:nvPr/>
        </p:nvSpPr>
        <p:spPr>
          <a:xfrm>
            <a:off x="13273701" y="-758358"/>
            <a:ext cx="1674063" cy="1674063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9D030A-3ECC-8C7A-FBC2-DC59C7BEF134}"/>
              </a:ext>
            </a:extLst>
          </p:cNvPr>
          <p:cNvSpPr/>
          <p:nvPr/>
        </p:nvSpPr>
        <p:spPr>
          <a:xfrm>
            <a:off x="22877585" y="-3490547"/>
            <a:ext cx="13716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76B4D689-45BD-F69A-F845-4E34EF031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0"/>
            <a:ext cx="18288000" cy="10287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0C235C-4375-A4B1-8E6B-18DCDA9CF848}"/>
              </a:ext>
            </a:extLst>
          </p:cNvPr>
          <p:cNvSpPr txBox="1"/>
          <p:nvPr/>
        </p:nvSpPr>
        <p:spPr>
          <a:xfrm>
            <a:off x="-6646" y="244545"/>
            <a:ext cx="18301292" cy="16366019"/>
          </a:xfrm>
          <a:prstGeom prst="rect">
            <a:avLst/>
          </a:prstGeom>
          <a:noFill/>
        </p:spPr>
        <p:txBody>
          <a:bodyPr wrap="square" lIns="137160" tIns="68580" rIns="137160" bIns="68580" rtlCol="0" anchor="t">
            <a:spAutoFit/>
          </a:bodyPr>
          <a:lstStyle/>
          <a:p>
            <a:r>
              <a:rPr lang="en-IN" sz="5250" dirty="0">
                <a:solidFill>
                  <a:schemeClr val="bg1">
                    <a:lumMod val="95000"/>
                  </a:schemeClr>
                </a:solidFill>
                <a:latin typeface="Algerian" panose="04020705040A02060702" pitchFamily="82" charset="0"/>
              </a:rPr>
              <a:t>    </a:t>
            </a:r>
            <a:r>
              <a:rPr lang="en-IN" sz="5250" u="sng" dirty="0">
                <a:solidFill>
                  <a:schemeClr val="bg1">
                    <a:lumMod val="95000"/>
                  </a:schemeClr>
                </a:solidFill>
                <a:latin typeface="Algerian" panose="04020705040A02060702" pitchFamily="82" charset="0"/>
              </a:rPr>
              <a:t>PROBLEM</a:t>
            </a:r>
            <a:r>
              <a:rPr lang="en-IN" sz="5250" b="1" u="sng" dirty="0">
                <a:solidFill>
                  <a:schemeClr val="bg1">
                    <a:lumMod val="95000"/>
                  </a:schemeClr>
                </a:solidFill>
                <a:latin typeface="Algerian" panose="04020705040A02060702" pitchFamily="82" charset="0"/>
              </a:rPr>
              <a:t> AREA</a:t>
            </a:r>
          </a:p>
          <a:p>
            <a:endParaRPr lang="en-IN" sz="3300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IN" sz="3300" b="1" dirty="0">
                <a:solidFill>
                  <a:schemeClr val="bg1"/>
                </a:solidFill>
                <a:ea typeface="+mn-lt"/>
                <a:cs typeface="+mn-lt"/>
              </a:rPr>
              <a:t>1. </a:t>
            </a:r>
            <a:r>
              <a:rPr lang="en-IN" sz="4200" b="1" dirty="0">
                <a:solidFill>
                  <a:schemeClr val="bg1"/>
                </a:solidFill>
                <a:ea typeface="+mn-lt"/>
                <a:cs typeface="+mn-lt"/>
              </a:rPr>
              <a:t>Escalating Road Accident Vulnerability:</a:t>
            </a:r>
            <a:r>
              <a:rPr lang="en-IN" sz="33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endParaRPr lang="en-IN" sz="2700" dirty="0">
              <a:solidFill>
                <a:schemeClr val="bg1"/>
              </a:solidFill>
              <a:ea typeface="+mn-lt"/>
              <a:cs typeface="+mn-lt"/>
            </a:endParaRPr>
          </a:p>
          <a:p>
            <a:pPr marL="428625" indent="-428625">
              <a:buFont typeface="Arial"/>
              <a:buChar char="•"/>
            </a:pPr>
            <a:r>
              <a:rPr lang="en-IN" sz="3300" dirty="0">
                <a:solidFill>
                  <a:schemeClr val="bg1"/>
                </a:solidFill>
                <a:ea typeface="+mn-lt"/>
                <a:cs typeface="+mn-lt"/>
              </a:rPr>
              <a:t>Riders face severe, unpredictable risks from poor road conditions, bad weather, and human errors.</a:t>
            </a:r>
            <a:endParaRPr lang="en-IN" sz="2700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IN" sz="3300" b="1" dirty="0">
                <a:solidFill>
                  <a:schemeClr val="bg1"/>
                </a:solidFill>
                <a:ea typeface="+mn-lt"/>
                <a:cs typeface="+mn-lt"/>
              </a:rPr>
              <a:t>2. </a:t>
            </a:r>
            <a:r>
              <a:rPr lang="en-IN" sz="4200" b="1" dirty="0">
                <a:solidFill>
                  <a:schemeClr val="bg1"/>
                </a:solidFill>
                <a:ea typeface="+mn-lt"/>
                <a:cs typeface="+mn-lt"/>
              </a:rPr>
              <a:t>Limitations of Passive Head Protection:</a:t>
            </a:r>
            <a:r>
              <a:rPr lang="en-IN" sz="42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</a:p>
          <a:p>
            <a:pPr marL="428625" indent="-428625">
              <a:buFont typeface="Arial"/>
              <a:buChar char="•"/>
            </a:pPr>
            <a:r>
              <a:rPr lang="en-IN" sz="3300" dirty="0">
                <a:solidFill>
                  <a:schemeClr val="bg1"/>
                </a:solidFill>
                <a:ea typeface="+mn-lt"/>
                <a:cs typeface="+mn-lt"/>
              </a:rPr>
              <a:t>Traditional helmets only absorb initial impact shocks but fail to actively prevent complex brain injuries.</a:t>
            </a:r>
            <a:endParaRPr lang="en-IN" sz="2700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IN" sz="3300" b="1" dirty="0">
                <a:solidFill>
                  <a:schemeClr val="bg1"/>
                </a:solidFill>
                <a:ea typeface="+mn-lt"/>
                <a:cs typeface="+mn-lt"/>
              </a:rPr>
              <a:t>3. </a:t>
            </a:r>
            <a:r>
              <a:rPr lang="en-IN" sz="4200" b="1" dirty="0">
                <a:solidFill>
                  <a:schemeClr val="bg1"/>
                </a:solidFill>
                <a:ea typeface="+mn-lt"/>
                <a:cs typeface="+mn-lt"/>
              </a:rPr>
              <a:t>The 'Golden Hour' Response Gap:</a:t>
            </a:r>
            <a:endParaRPr lang="en-IN" sz="4200" dirty="0">
              <a:solidFill>
                <a:schemeClr val="bg1"/>
              </a:solidFill>
              <a:ea typeface="+mn-lt"/>
              <a:cs typeface="+mn-lt"/>
            </a:endParaRPr>
          </a:p>
          <a:p>
            <a:pPr marL="428625" indent="-428625">
              <a:buFont typeface="Arial"/>
              <a:buChar char="•"/>
            </a:pPr>
            <a:r>
              <a:rPr lang="en-IN" sz="3300" dirty="0">
                <a:solidFill>
                  <a:schemeClr val="bg1"/>
                </a:solidFill>
                <a:ea typeface="+mn-lt"/>
                <a:cs typeface="+mn-lt"/>
              </a:rPr>
              <a:t> Standard helmets lack crash detection, delaying emergency dispatch and turning survivable accidents into fatalities.</a:t>
            </a:r>
            <a:endParaRPr lang="en-IN" sz="2700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IN" sz="3300" b="1" dirty="0">
                <a:solidFill>
                  <a:schemeClr val="bg1"/>
                </a:solidFill>
                <a:ea typeface="+mn-lt"/>
                <a:cs typeface="+mn-lt"/>
              </a:rPr>
              <a:t>4. </a:t>
            </a:r>
            <a:r>
              <a:rPr lang="en-IN" sz="4200" b="1" dirty="0">
                <a:solidFill>
                  <a:schemeClr val="bg1"/>
                </a:solidFill>
                <a:ea typeface="+mn-lt"/>
                <a:cs typeface="+mn-lt"/>
              </a:rPr>
              <a:t>Absence of Behavioural Compliance Monitoring:</a:t>
            </a:r>
            <a:r>
              <a:rPr lang="en-IN" sz="42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</a:p>
          <a:p>
            <a:pPr marL="428625" indent="-428625">
              <a:buFont typeface="Arial"/>
              <a:buChar char="•"/>
            </a:pPr>
            <a:r>
              <a:rPr lang="en-IN" sz="3300" dirty="0">
                <a:solidFill>
                  <a:schemeClr val="bg1"/>
                </a:solidFill>
                <a:ea typeface="+mn-lt"/>
                <a:cs typeface="+mn-lt"/>
              </a:rPr>
              <a:t>No built-in systems prevent high-risk actions like riding while intoxicated or leaving the helmet unbuckled.</a:t>
            </a:r>
            <a:endParaRPr lang="en-IN" sz="2700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IN" sz="3300" b="1" dirty="0">
                <a:solidFill>
                  <a:schemeClr val="bg1"/>
                </a:solidFill>
                <a:ea typeface="+mn-lt"/>
                <a:cs typeface="+mn-lt"/>
              </a:rPr>
              <a:t>5. </a:t>
            </a:r>
            <a:r>
              <a:rPr lang="en-IN" sz="4200" b="1" dirty="0">
                <a:solidFill>
                  <a:schemeClr val="bg1"/>
                </a:solidFill>
                <a:ea typeface="+mn-lt"/>
                <a:cs typeface="+mn-lt"/>
              </a:rPr>
              <a:t>Perceptual Blind Spots &amp; Spatial Unawareness:</a:t>
            </a:r>
            <a:r>
              <a:rPr lang="en-IN" sz="42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</a:p>
          <a:p>
            <a:pPr marL="428625" indent="-428625">
              <a:buFont typeface="Arial"/>
              <a:buChar char="•"/>
            </a:pPr>
            <a:r>
              <a:rPr lang="en-IN" sz="3300" dirty="0">
                <a:solidFill>
                  <a:schemeClr val="bg1"/>
                </a:solidFill>
                <a:ea typeface="+mn-lt"/>
                <a:cs typeface="+mn-lt"/>
              </a:rPr>
              <a:t>Regular helmets restrict peripheral sight and hearing, leaving riders blind to fast-approaching vehicles.</a:t>
            </a:r>
            <a:endParaRPr lang="en-IN" sz="2700" dirty="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IN" sz="3300" dirty="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IN" sz="3300" dirty="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IN" sz="3300" dirty="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IN" sz="3300" dirty="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IN" sz="3300" dirty="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IN" sz="3300" dirty="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IN" sz="3300" dirty="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IN" sz="3300" dirty="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IN" sz="3300" dirty="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IN" sz="3300" dirty="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IN" sz="3300" dirty="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IN" sz="3300" dirty="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IN" sz="3300" dirty="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IN" sz="3300" dirty="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IN" sz="3300" dirty="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IN" sz="33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7819A6-261C-4874-7E07-ECE474887EE5}"/>
              </a:ext>
            </a:extLst>
          </p:cNvPr>
          <p:cNvSpPr/>
          <p:nvPr/>
        </p:nvSpPr>
        <p:spPr>
          <a:xfrm>
            <a:off x="13241804" y="-837032"/>
            <a:ext cx="1674063" cy="1674063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</p:spTree>
    <p:extLst>
      <p:ext uri="{BB962C8B-B14F-4D97-AF65-F5344CB8AC3E}">
        <p14:creationId xmlns:p14="http://schemas.microsoft.com/office/powerpoint/2010/main" val="3559738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FCAA53BB-7F95-D815-D1D1-2F0BBF28D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" y="-3734"/>
            <a:ext cx="18288000" cy="10287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CC59F6-5EE3-3CF6-B12A-0B49FC959007}"/>
              </a:ext>
            </a:extLst>
          </p:cNvPr>
          <p:cNvSpPr txBox="1"/>
          <p:nvPr/>
        </p:nvSpPr>
        <p:spPr>
          <a:xfrm>
            <a:off x="2696786" y="988829"/>
            <a:ext cx="11586830" cy="9602629"/>
          </a:xfrm>
          <a:prstGeom prst="rect">
            <a:avLst/>
          </a:prstGeom>
          <a:noFill/>
        </p:spPr>
        <p:txBody>
          <a:bodyPr wrap="square" lIns="137160" tIns="68580" rIns="137160" bIns="68580" rtlCol="0" anchor="t">
            <a:spAutoFit/>
          </a:bodyPr>
          <a:lstStyle/>
          <a:p>
            <a:pPr algn="ctr"/>
            <a:r>
              <a:rPr lang="en-IN" sz="7500" b="1" dirty="0">
                <a:solidFill>
                  <a:schemeClr val="bg1"/>
                </a:solidFill>
                <a:latin typeface="Gloucester MT Extra Condensed" panose="02030808020601010101" pitchFamily="18" charset="0"/>
              </a:rPr>
              <a:t>Problem Statement:</a:t>
            </a:r>
          </a:p>
          <a:p>
            <a:pPr algn="ctr"/>
            <a:endParaRPr lang="en-IN" sz="6000" dirty="0">
              <a:solidFill>
                <a:schemeClr val="bg1"/>
              </a:solidFill>
            </a:endParaRPr>
          </a:p>
          <a:p>
            <a:pPr algn="ctr"/>
            <a:r>
              <a:rPr lang="en-IN" sz="5250" b="1" i="1" dirty="0">
                <a:solidFill>
                  <a:schemeClr val="bg1"/>
                </a:solidFill>
              </a:rPr>
              <a:t>“</a:t>
            </a:r>
            <a:r>
              <a:rPr lang="en-IN" sz="5250" dirty="0">
                <a:solidFill>
                  <a:schemeClr val="bg1"/>
                </a:solidFill>
                <a:ea typeface="+mn-lt"/>
                <a:cs typeface="+mn-lt"/>
              </a:rPr>
              <a:t>When a two-wheeler accident occurs, traditional helmets only offer passive impact protection. They cannot detect a crash or call for help, leaving injured riders stranded during the critical 'Golden Hour' of survival and leading to preventable loss of life due to delayed emergency response."</a:t>
            </a:r>
            <a:r>
              <a:rPr lang="en-IN" sz="5250" b="1" i="1" dirty="0">
                <a:solidFill>
                  <a:schemeClr val="bg1"/>
                </a:solidFill>
              </a:rPr>
              <a:t>”</a:t>
            </a:r>
            <a:endParaRPr lang="en-IN" sz="5250" i="1" dirty="0">
              <a:solidFill>
                <a:schemeClr val="bg1"/>
              </a:solidFill>
            </a:endParaRPr>
          </a:p>
          <a:p>
            <a:endParaRPr lang="en-IN" sz="6000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E0DED7-5E28-DB9C-60EF-D872A7E696B3}"/>
              </a:ext>
            </a:extLst>
          </p:cNvPr>
          <p:cNvSpPr/>
          <p:nvPr/>
        </p:nvSpPr>
        <p:spPr>
          <a:xfrm>
            <a:off x="7651736" y="-852104"/>
            <a:ext cx="1674063" cy="1674063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</p:spTree>
    <p:extLst>
      <p:ext uri="{BB962C8B-B14F-4D97-AF65-F5344CB8AC3E}">
        <p14:creationId xmlns:p14="http://schemas.microsoft.com/office/powerpoint/2010/main" val="2174095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4DEAD73E-15F6-B72F-54BF-BD9BC9ACA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" y="0"/>
            <a:ext cx="18226905" cy="102597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8527F7D7-90E2-BD6B-9D2D-82D4D6A65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A5B5AB-A8F2-0FDF-EBA0-7CDE52BC4F93}"/>
              </a:ext>
            </a:extLst>
          </p:cNvPr>
          <p:cNvSpPr txBox="1"/>
          <p:nvPr/>
        </p:nvSpPr>
        <p:spPr>
          <a:xfrm>
            <a:off x="543464" y="696509"/>
            <a:ext cx="1312940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200" b="1" dirty="0">
                <a:solidFill>
                  <a:srgbClr val="F97316"/>
                </a:solidFill>
                <a:latin typeface="Arial Black"/>
              </a:rPr>
              <a:t>INTERVIEW 2 — COLLEGE STUDENT / YOUNG RIDER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3A79E8-4DDF-0506-522F-54367A9A8F8D}"/>
              </a:ext>
            </a:extLst>
          </p:cNvPr>
          <p:cNvSpPr txBox="1"/>
          <p:nvPr/>
        </p:nvSpPr>
        <p:spPr>
          <a:xfrm>
            <a:off x="668552" y="2976113"/>
            <a:ext cx="17541813" cy="6694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300" b="1" dirty="0">
                <a:solidFill>
                  <a:schemeClr val="bg1"/>
                </a:solidFill>
              </a:rPr>
              <a:t>Q1. What are the main safety risks you notice while riding a two-wheeler?</a:t>
            </a:r>
            <a:br>
              <a:rPr lang="en-IN" sz="3300" dirty="0">
                <a:solidFill>
                  <a:schemeClr val="bg1"/>
                </a:solidFill>
              </a:rPr>
            </a:br>
            <a:r>
              <a:rPr lang="en-IN" sz="3300" b="1" dirty="0">
                <a:solidFill>
                  <a:schemeClr val="bg1"/>
                </a:solidFill>
              </a:rPr>
              <a:t>Answer:</a:t>
            </a:r>
            <a:r>
              <a:rPr lang="en-IN" sz="3300" dirty="0">
                <a:solidFill>
                  <a:schemeClr val="bg1"/>
                </a:solidFill>
              </a:rPr>
              <a:t> Traffic, sudden braking by other vehicles, poor road conditions and vehicles coming from behind or from the side are some common risks.</a:t>
            </a:r>
          </a:p>
          <a:p>
            <a:pPr>
              <a:buNone/>
            </a:pPr>
            <a:r>
              <a:rPr lang="en-IN" sz="3300" b="1" dirty="0">
                <a:solidFill>
                  <a:schemeClr val="bg1"/>
                </a:solidFill>
              </a:rPr>
              <a:t>Q2. Have you ever faced difficulty noticing vehicles in your blind spot?</a:t>
            </a:r>
            <a:br>
              <a:rPr lang="en-IN" sz="3300" dirty="0">
                <a:solidFill>
                  <a:schemeClr val="bg1"/>
                </a:solidFill>
              </a:rPr>
            </a:br>
            <a:r>
              <a:rPr lang="en-IN" sz="3300" b="1" dirty="0">
                <a:solidFill>
                  <a:schemeClr val="bg1"/>
                </a:solidFill>
              </a:rPr>
              <a:t>Answer:</a:t>
            </a:r>
            <a:r>
              <a:rPr lang="en-IN" sz="3300" dirty="0">
                <a:solidFill>
                  <a:schemeClr val="bg1"/>
                </a:solidFill>
              </a:rPr>
              <a:t> Yes, especially in heavy traffic. Sometimes a vehicle can approach from the side without being noticed immediately.</a:t>
            </a:r>
          </a:p>
          <a:p>
            <a:pPr>
              <a:buNone/>
            </a:pPr>
            <a:r>
              <a:rPr lang="en-IN" sz="3300" b="1" dirty="0">
                <a:solidFill>
                  <a:schemeClr val="bg1"/>
                </a:solidFill>
              </a:rPr>
              <a:t>Q3. Do you think alcohol detection in a helmet could help prevent unsafe riding?</a:t>
            </a:r>
            <a:br>
              <a:rPr lang="en-IN" sz="3300" dirty="0">
                <a:solidFill>
                  <a:schemeClr val="bg1"/>
                </a:solidFill>
              </a:rPr>
            </a:br>
            <a:r>
              <a:rPr lang="en-IN" sz="3300" b="1" dirty="0">
                <a:solidFill>
                  <a:schemeClr val="bg1"/>
                </a:solidFill>
              </a:rPr>
              <a:t>Answer:</a:t>
            </a:r>
            <a:r>
              <a:rPr lang="en-IN" sz="3300" dirty="0">
                <a:solidFill>
                  <a:schemeClr val="bg1"/>
                </a:solidFill>
              </a:rPr>
              <a:t> Yes. It could act as an additional safety measure by detecting alcohol before the rider starts or continues riding.</a:t>
            </a:r>
          </a:p>
          <a:p>
            <a:pPr>
              <a:buNone/>
            </a:pPr>
            <a:r>
              <a:rPr lang="en-IN" sz="3300" b="1" dirty="0">
                <a:solidFill>
                  <a:schemeClr val="bg1"/>
                </a:solidFill>
              </a:rPr>
              <a:t>Q4. How useful would it be if the helmet automatically informed family members after an accident?</a:t>
            </a:r>
            <a:br>
              <a:rPr lang="en-IN" sz="3300" dirty="0">
                <a:solidFill>
                  <a:schemeClr val="bg1"/>
                </a:solidFill>
              </a:rPr>
            </a:br>
            <a:r>
              <a:rPr lang="en-IN" sz="3300" b="1" dirty="0">
                <a:solidFill>
                  <a:schemeClr val="bg1"/>
                </a:solidFill>
              </a:rPr>
              <a:t>Answer:</a:t>
            </a:r>
            <a:r>
              <a:rPr lang="en-IN" sz="3300" dirty="0">
                <a:solidFill>
                  <a:schemeClr val="bg1"/>
                </a:solidFill>
              </a:rPr>
              <a:t> It would be very useful because family members could be informed quickly even when the rider cannot make a call themselves.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153582-A1B6-9E55-B736-249E785B0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6330" y="140180"/>
            <a:ext cx="2609828" cy="269575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15B3F48-86B6-3B02-B59F-8089E5A89C3F}"/>
              </a:ext>
            </a:extLst>
          </p:cNvPr>
          <p:cNvSpPr txBox="1"/>
          <p:nvPr/>
        </p:nvSpPr>
        <p:spPr>
          <a:xfrm>
            <a:off x="13767759" y="2775549"/>
            <a:ext cx="3713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700" dirty="0">
                <a:solidFill>
                  <a:schemeClr val="accent6">
                    <a:lumMod val="75000"/>
                  </a:schemeClr>
                </a:solidFill>
              </a:rPr>
              <a:t>YASH TYAGI </a:t>
            </a:r>
          </a:p>
          <a:p>
            <a:pPr algn="ctr"/>
            <a:r>
              <a:rPr lang="en-IN" sz="2700" dirty="0">
                <a:solidFill>
                  <a:schemeClr val="accent6">
                    <a:lumMod val="75000"/>
                  </a:schemeClr>
                </a:solidFill>
              </a:rPr>
              <a:t>ACCIDENT SURVIVOR</a:t>
            </a:r>
          </a:p>
        </p:txBody>
      </p:sp>
    </p:spTree>
    <p:extLst>
      <p:ext uri="{BB962C8B-B14F-4D97-AF65-F5344CB8AC3E}">
        <p14:creationId xmlns:p14="http://schemas.microsoft.com/office/powerpoint/2010/main" val="24892426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241567E6-FE26-0C03-3CC3-EA44F3E72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42366C3-5371-1EE7-DE34-3501046CAF27}"/>
              </a:ext>
            </a:extLst>
          </p:cNvPr>
          <p:cNvSpPr txBox="1"/>
          <p:nvPr/>
        </p:nvSpPr>
        <p:spPr>
          <a:xfrm>
            <a:off x="594360" y="256032"/>
            <a:ext cx="13027925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800" dirty="0">
                <a:solidFill>
                  <a:srgbClr val="FFFFFF"/>
                </a:solidFill>
                <a:latin typeface="Algerian"/>
              </a:rPr>
              <a:t>PRIMARY RESEARCH — </a:t>
            </a:r>
            <a:r>
              <a:rPr sz="5800" dirty="0">
                <a:solidFill>
                  <a:schemeClr val="accent6">
                    <a:lumMod val="75000"/>
                  </a:schemeClr>
                </a:solidFill>
                <a:latin typeface="Algerian"/>
              </a:rPr>
              <a:t>SURVEY FORM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485F3F-DA7E-57A0-3EB1-A4206E18DBE9}"/>
              </a:ext>
            </a:extLst>
          </p:cNvPr>
          <p:cNvSpPr txBox="1"/>
          <p:nvPr/>
        </p:nvSpPr>
        <p:spPr>
          <a:xfrm>
            <a:off x="462087" y="1873270"/>
            <a:ext cx="17063913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1.Do you regularly travel on a two-wheeler?</a:t>
            </a:r>
          </a:p>
          <a:p>
            <a:r>
              <a:rPr lang="en-US" sz="4000" dirty="0">
                <a:solidFill>
                  <a:schemeClr val="bg1"/>
                </a:solidFill>
              </a:rPr>
              <a:t>2.How often do you wear a helmet while riding?</a:t>
            </a:r>
          </a:p>
          <a:p>
            <a:r>
              <a:rPr lang="en-US" sz="4000" dirty="0">
                <a:solidFill>
                  <a:schemeClr val="bg1"/>
                </a:solidFill>
              </a:rPr>
              <a:t>3.What is the main reason people may avoid wearing a helmet?</a:t>
            </a:r>
          </a:p>
          <a:p>
            <a:r>
              <a:rPr lang="en-US" sz="4000" dirty="0">
                <a:solidFill>
                  <a:schemeClr val="bg1"/>
                </a:solidFill>
              </a:rPr>
              <a:t>4.Do you think a conventional helmet provides enough safety during an accident?</a:t>
            </a:r>
          </a:p>
          <a:p>
            <a:r>
              <a:rPr lang="en-US" sz="4000" dirty="0">
                <a:solidFill>
                  <a:schemeClr val="bg1"/>
                </a:solidFill>
              </a:rPr>
              <a:t>5.How useful would automatic accident detection in a helmet be?</a:t>
            </a:r>
          </a:p>
          <a:p>
            <a:r>
              <a:rPr lang="en-US" sz="4000" dirty="0">
                <a:solidFill>
                  <a:schemeClr val="bg1"/>
                </a:solidFill>
              </a:rPr>
              <a:t>6.How useful would an automatic emergency alert to family/emergency contacts after an accident be?</a:t>
            </a:r>
          </a:p>
          <a:p>
            <a:r>
              <a:rPr lang="en-US" sz="4000" dirty="0">
                <a:solidFill>
                  <a:schemeClr val="bg1"/>
                </a:solidFill>
              </a:rPr>
              <a:t>7.Do you think blind-spot assistance could improve two-wheeler safety?</a:t>
            </a:r>
          </a:p>
          <a:p>
            <a:r>
              <a:rPr lang="en-US" sz="4000" dirty="0">
                <a:solidFill>
                  <a:schemeClr val="bg1"/>
                </a:solidFill>
              </a:rPr>
              <a:t>8.Which smart-helmet features would you find useful?</a:t>
            </a:r>
          </a:p>
          <a:p>
            <a:r>
              <a:rPr lang="en-US" sz="4000" dirty="0">
                <a:solidFill>
                  <a:schemeClr val="bg1"/>
                </a:solidFill>
              </a:rPr>
              <a:t>9.Would you consider using a smart helmet if it remained comfortable and affordable?</a:t>
            </a:r>
          </a:p>
          <a:p>
            <a:r>
              <a:rPr lang="en-US" sz="4000" dirty="0">
                <a:solidFill>
                  <a:schemeClr val="bg1"/>
                </a:solidFill>
              </a:rPr>
              <a:t>10.What is the most important improvement you would like to see in motorcycle helmets?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6A0149-EC63-4606-AB65-FF6FEDC9C3B9}"/>
              </a:ext>
            </a:extLst>
          </p:cNvPr>
          <p:cNvSpPr txBox="1"/>
          <p:nvPr/>
        </p:nvSpPr>
        <p:spPr>
          <a:xfrm>
            <a:off x="8203415" y="1173783"/>
            <a:ext cx="97422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https://forms.gle/zMrdHVcHeFuwygoZ6</a:t>
            </a:r>
            <a:endParaRPr lang="en-IN" sz="3600" dirty="0">
              <a:solidFill>
                <a:srgbClr val="00B0F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2F8627-978C-4112-68BA-7F9883A457D2}"/>
              </a:ext>
            </a:extLst>
          </p:cNvPr>
          <p:cNvSpPr txBox="1"/>
          <p:nvPr/>
        </p:nvSpPr>
        <p:spPr>
          <a:xfrm>
            <a:off x="6993904" y="1173782"/>
            <a:ext cx="1220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accent6">
                    <a:lumMod val="75000"/>
                  </a:schemeClr>
                </a:solidFill>
              </a:rPr>
              <a:t>LINK-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881B6-5445-B8FD-8412-0483ACB20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CB943C5B-FB5B-5CEC-2C3F-ACBB1F0B6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A866032-1DA7-1F9B-5985-523A0C6C8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7972" y="0"/>
            <a:ext cx="18288000" cy="1017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793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A36404-055B-24AE-A49C-144AB306B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65380" y="-603849"/>
            <a:ext cx="19885823" cy="11098184"/>
          </a:xfrm>
          <a:prstGeom prst="rect">
            <a:avLst/>
          </a:prstGeom>
        </p:spPr>
      </p:pic>
      <p:pic>
        <p:nvPicPr>
          <p:cNvPr id="4" name="Picture 3" descr="Forms response chart. Question title: 3. What is the main reason people may avoid wearing a helmet?. Number of responses: 18 responses.">
            <a:extLst>
              <a:ext uri="{FF2B5EF4-FFF2-40B4-BE49-F238E27FC236}">
                <a16:creationId xmlns:a16="http://schemas.microsoft.com/office/drawing/2014/main" id="{C27A9FC5-0306-D264-5C96-724AA9D2C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02026" y="162664"/>
            <a:ext cx="9741266" cy="4098785"/>
          </a:xfrm>
          <a:prstGeom prst="rect">
            <a:avLst/>
          </a:prstGeom>
        </p:spPr>
      </p:pic>
      <p:pic>
        <p:nvPicPr>
          <p:cNvPr id="5" name="Picture 4" descr="Forms response chart. Question title: 4. Do you think a conventional helmet provides enough safety during an accident?. Number of responses: 17 responses.">
            <a:extLst>
              <a:ext uri="{FF2B5EF4-FFF2-40B4-BE49-F238E27FC236}">
                <a16:creationId xmlns:a16="http://schemas.microsoft.com/office/drawing/2014/main" id="{B128D447-9CDB-4557-C888-C325463B09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0641" y="4502988"/>
            <a:ext cx="9588171" cy="5621349"/>
          </a:xfrm>
          <a:prstGeom prst="rect">
            <a:avLst/>
          </a:prstGeom>
        </p:spPr>
      </p:pic>
      <p:pic>
        <p:nvPicPr>
          <p:cNvPr id="6" name="Picture 5" descr="Forms response chart. Question title:   5. How useful would automatic accident detection in a helmet be?  . Number of responses: 17 responses.">
            <a:extLst>
              <a:ext uri="{FF2B5EF4-FFF2-40B4-BE49-F238E27FC236}">
                <a16:creationId xmlns:a16="http://schemas.microsoft.com/office/drawing/2014/main" id="{96901F92-6AEF-742A-2680-78D3ECF885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1459" y="162664"/>
            <a:ext cx="8982699" cy="4098785"/>
          </a:xfrm>
          <a:prstGeom prst="rect">
            <a:avLst/>
          </a:prstGeom>
        </p:spPr>
      </p:pic>
      <p:pic>
        <p:nvPicPr>
          <p:cNvPr id="7" name="Picture 6" descr="Forms response chart. Question title:   6. How useful would an automatic emergency alert to family/emergency contacts after an accident be?  . Number of responses: 17 responses.">
            <a:extLst>
              <a:ext uri="{FF2B5EF4-FFF2-40B4-BE49-F238E27FC236}">
                <a16:creationId xmlns:a16="http://schemas.microsoft.com/office/drawing/2014/main" id="{2C9C5571-384C-1789-FCF8-C7E5FAE55B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1220" y="4502989"/>
            <a:ext cx="8923181" cy="55295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106C44-DBD6-809D-FE95-AC8A6EB4F755}"/>
              </a:ext>
            </a:extLst>
          </p:cNvPr>
          <p:cNvSpPr txBox="1"/>
          <p:nvPr/>
        </p:nvSpPr>
        <p:spPr>
          <a:xfrm>
            <a:off x="4584941" y="3024995"/>
            <a:ext cx="3523892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100" dirty="0"/>
              <a:t>Heat/sweating is the biggest reason at </a:t>
            </a:r>
            <a:r>
              <a:rPr lang="en-IN" sz="2100" b="1" dirty="0"/>
              <a:t>33.3%</a:t>
            </a:r>
            <a:r>
              <a:rPr lang="en-IN" sz="2100" dirty="0"/>
              <a:t>, followed by discomfort at </a:t>
            </a:r>
            <a:r>
              <a:rPr lang="en-IN" sz="2100" b="1" dirty="0"/>
              <a:t>27.8%</a:t>
            </a:r>
            <a:r>
              <a:rPr lang="en-IN" sz="21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D1846F-6962-8E92-8FF1-ACAC0675641A}"/>
              </a:ext>
            </a:extLst>
          </p:cNvPr>
          <p:cNvSpPr txBox="1"/>
          <p:nvPr/>
        </p:nvSpPr>
        <p:spPr>
          <a:xfrm>
            <a:off x="4228447" y="8162595"/>
            <a:ext cx="451592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100" dirty="0"/>
              <a:t>64.7% feel conventional helmets provide complete or partial safety, while </a:t>
            </a:r>
            <a:r>
              <a:rPr lang="en-IN" sz="2100" b="1" dirty="0"/>
              <a:t>35.3% remain unconvinced or unsure</a:t>
            </a:r>
            <a:r>
              <a:rPr lang="en-IN" sz="21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FA681F-43BE-6222-DD7C-B173487EF30A}"/>
              </a:ext>
            </a:extLst>
          </p:cNvPr>
          <p:cNvSpPr txBox="1"/>
          <p:nvPr/>
        </p:nvSpPr>
        <p:spPr>
          <a:xfrm>
            <a:off x="13272809" y="2863412"/>
            <a:ext cx="451592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100" b="1" dirty="0"/>
              <a:t>58.9%</a:t>
            </a:r>
            <a:r>
              <a:rPr lang="en-IN" sz="2100" dirty="0"/>
              <a:t> consider automatic accident detection extremely or very useful, showing strong demand for this feature.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42CEA3-15DC-2CE8-8BD3-A80EB6E87384}"/>
              </a:ext>
            </a:extLst>
          </p:cNvPr>
          <p:cNvSpPr txBox="1"/>
          <p:nvPr/>
        </p:nvSpPr>
        <p:spPr>
          <a:xfrm>
            <a:off x="12909430" y="8485760"/>
            <a:ext cx="4679831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100" b="1" dirty="0"/>
              <a:t>70.5%</a:t>
            </a:r>
            <a:r>
              <a:rPr lang="en-IN" sz="2100" dirty="0"/>
              <a:t> rate automatic emergency alerts as extremely or very useful, making it a highly valued safety feature.</a:t>
            </a:r>
          </a:p>
        </p:txBody>
      </p:sp>
    </p:spTree>
    <p:extLst>
      <p:ext uri="{BB962C8B-B14F-4D97-AF65-F5344CB8AC3E}">
        <p14:creationId xmlns:p14="http://schemas.microsoft.com/office/powerpoint/2010/main" val="1700489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77639F-1E87-E727-9BDB-2BCFCF296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1539" y="-179594"/>
            <a:ext cx="18754136" cy="10466595"/>
          </a:xfrm>
          <a:prstGeom prst="rect">
            <a:avLst/>
          </a:prstGeom>
        </p:spPr>
      </p:pic>
      <p:pic>
        <p:nvPicPr>
          <p:cNvPr id="4" name="Picture 3" descr="Forms response chart. Question title:   7. Do you think blind-spot assistance could improve two-wheeler safety?  . Number of responses: 17 responses.">
            <a:extLst>
              <a:ext uri="{FF2B5EF4-FFF2-40B4-BE49-F238E27FC236}">
                <a16:creationId xmlns:a16="http://schemas.microsoft.com/office/drawing/2014/main" id="{B9CF7C92-04D1-217E-E5F7-B23D83CD3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60" y="138252"/>
            <a:ext cx="8722385" cy="4511385"/>
          </a:xfrm>
          <a:prstGeom prst="rect">
            <a:avLst/>
          </a:prstGeom>
        </p:spPr>
      </p:pic>
      <p:pic>
        <p:nvPicPr>
          <p:cNvPr id="5" name="Picture 4" descr="Forms response chart. Question title:   8. Which smart-helmet features would you find most useful?  . Number of responses: 19 responses.">
            <a:extLst>
              <a:ext uri="{FF2B5EF4-FFF2-40B4-BE49-F238E27FC236}">
                <a16:creationId xmlns:a16="http://schemas.microsoft.com/office/drawing/2014/main" id="{FE315756-C6B5-DA76-9AF7-33C09E23BA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6966" y="138251"/>
            <a:ext cx="8722385" cy="4511384"/>
          </a:xfrm>
          <a:prstGeom prst="rect">
            <a:avLst/>
          </a:prstGeom>
        </p:spPr>
      </p:pic>
      <p:pic>
        <p:nvPicPr>
          <p:cNvPr id="6" name="Picture 5" descr="Forms response chart. Question title:   9. Would you consider using a smart helmet if it remained comfortable and affordable?  . Number of responses: 19 responses.">
            <a:extLst>
              <a:ext uri="{FF2B5EF4-FFF2-40B4-BE49-F238E27FC236}">
                <a16:creationId xmlns:a16="http://schemas.microsoft.com/office/drawing/2014/main" id="{30A2E4C4-2A2E-D116-0D91-E5453B0E25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824" y="5143499"/>
            <a:ext cx="8722383" cy="4794131"/>
          </a:xfrm>
          <a:prstGeom prst="rect">
            <a:avLst/>
          </a:prstGeom>
        </p:spPr>
      </p:pic>
      <p:pic>
        <p:nvPicPr>
          <p:cNvPr id="7" name="Picture 6" descr="Forms response chart. Question title:   10. What is the most important improvement you would like to see in motorcycle helmets?  . Number of responses: 20 responses.">
            <a:extLst>
              <a:ext uri="{FF2B5EF4-FFF2-40B4-BE49-F238E27FC236}">
                <a16:creationId xmlns:a16="http://schemas.microsoft.com/office/drawing/2014/main" id="{3BF07BFE-EDAC-D869-81DD-C48444E1FA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2844" y="5143500"/>
            <a:ext cx="8876583" cy="47941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FAC17E-E84C-EACB-9ADD-320CD5718BAE}"/>
              </a:ext>
            </a:extLst>
          </p:cNvPr>
          <p:cNvSpPr txBox="1"/>
          <p:nvPr/>
        </p:nvSpPr>
        <p:spPr>
          <a:xfrm>
            <a:off x="4619603" y="3306563"/>
            <a:ext cx="4515926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100" b="1" dirty="0"/>
              <a:t>70.5%</a:t>
            </a:r>
            <a:r>
              <a:rPr lang="en-IN" sz="2100" dirty="0"/>
              <a:t> believe blind-spot assistance could definitely or probably improve two-wheeler safety.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812F2C-EE1C-A09C-6C26-185AF35B877D}"/>
              </a:ext>
            </a:extLst>
          </p:cNvPr>
          <p:cNvSpPr txBox="1"/>
          <p:nvPr/>
        </p:nvSpPr>
        <p:spPr>
          <a:xfrm>
            <a:off x="12995696" y="3338450"/>
            <a:ext cx="4843731" cy="99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dirty="0"/>
              <a:t>Automatic accident detection received the highest preference at </a:t>
            </a:r>
            <a:r>
              <a:rPr lang="en-IN" sz="1950" b="1" dirty="0"/>
              <a:t>31.6%</a:t>
            </a:r>
            <a:r>
              <a:rPr lang="en-IN" sz="1950" dirty="0"/>
              <a:t>, followed by alcohol detection at </a:t>
            </a:r>
            <a:r>
              <a:rPr lang="en-IN" sz="1950" b="1" dirty="0"/>
              <a:t>26.3%</a:t>
            </a:r>
            <a:r>
              <a:rPr lang="en-IN" sz="195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0B7CF6-9DE5-A877-2A34-6455BBEC9071}"/>
              </a:ext>
            </a:extLst>
          </p:cNvPr>
          <p:cNvSpPr txBox="1"/>
          <p:nvPr/>
        </p:nvSpPr>
        <p:spPr>
          <a:xfrm>
            <a:off x="4601651" y="8554197"/>
            <a:ext cx="4317519" cy="99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/>
              <a:t>73.7%</a:t>
            </a:r>
            <a:r>
              <a:rPr lang="en-IN" sz="1950" dirty="0"/>
              <a:t> would definitely or probably consider using a smart helmet if it remains comfortable and affordable.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D54CB2-FD48-8421-D6C3-7AFC4A3AECC1}"/>
              </a:ext>
            </a:extLst>
          </p:cNvPr>
          <p:cNvSpPr txBox="1"/>
          <p:nvPr/>
        </p:nvSpPr>
        <p:spPr>
          <a:xfrm>
            <a:off x="12995696" y="8453447"/>
            <a:ext cx="5283678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950" b="1" dirty="0"/>
              <a:t>40%</a:t>
            </a:r>
            <a:r>
              <a:rPr lang="en-IN" sz="1950" dirty="0"/>
              <a:t> selected better impact protection as the most important improvement, followed by automatic accident detection and blind-spot assistance at </a:t>
            </a:r>
            <a:r>
              <a:rPr lang="en-IN" sz="1950" b="1" dirty="0"/>
              <a:t>15% each</a:t>
            </a:r>
            <a:r>
              <a:rPr lang="en-IN" sz="195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03249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F383E0-6BE5-ED3F-62B7-A66C3A24C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5482" y="-114300"/>
            <a:ext cx="18643842" cy="1040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5951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03E6E8-C296-5889-19CD-64F5CD872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5020" y="-69012"/>
            <a:ext cx="19143353" cy="106838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AC9E57-B0DE-00F4-BB8C-F1A3E7CF76E4}"/>
              </a:ext>
            </a:extLst>
          </p:cNvPr>
          <p:cNvSpPr txBox="1"/>
          <p:nvPr/>
        </p:nvSpPr>
        <p:spPr>
          <a:xfrm>
            <a:off x="2760453" y="1440613"/>
            <a:ext cx="764300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7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E56DD5-8AFB-0F0D-B3E3-1369F48DADDE}"/>
              </a:ext>
            </a:extLst>
          </p:cNvPr>
          <p:cNvSpPr txBox="1"/>
          <p:nvPr/>
        </p:nvSpPr>
        <p:spPr>
          <a:xfrm>
            <a:off x="5529532" y="78376"/>
            <a:ext cx="10196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u="sng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SECONDARY RESEARCH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C6F0C62-B26D-7D1B-52EE-C00B42BEF229}"/>
              </a:ext>
            </a:extLst>
          </p:cNvPr>
          <p:cNvGraphicFramePr>
            <a:graphicFrameLocks noGrp="1"/>
          </p:cNvGraphicFramePr>
          <p:nvPr/>
        </p:nvGraphicFramePr>
        <p:xfrm>
          <a:off x="-355020" y="770874"/>
          <a:ext cx="18867308" cy="95161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16827">
                  <a:extLst>
                    <a:ext uri="{9D8B030D-6E8A-4147-A177-3AD203B41FA5}">
                      <a16:colId xmlns:a16="http://schemas.microsoft.com/office/drawing/2014/main" val="3185810496"/>
                    </a:ext>
                  </a:extLst>
                </a:gridCol>
                <a:gridCol w="4716827">
                  <a:extLst>
                    <a:ext uri="{9D8B030D-6E8A-4147-A177-3AD203B41FA5}">
                      <a16:colId xmlns:a16="http://schemas.microsoft.com/office/drawing/2014/main" val="3106184344"/>
                    </a:ext>
                  </a:extLst>
                </a:gridCol>
                <a:gridCol w="4716827">
                  <a:extLst>
                    <a:ext uri="{9D8B030D-6E8A-4147-A177-3AD203B41FA5}">
                      <a16:colId xmlns:a16="http://schemas.microsoft.com/office/drawing/2014/main" val="2801895172"/>
                    </a:ext>
                  </a:extLst>
                </a:gridCol>
                <a:gridCol w="4716827">
                  <a:extLst>
                    <a:ext uri="{9D8B030D-6E8A-4147-A177-3AD203B41FA5}">
                      <a16:colId xmlns:a16="http://schemas.microsoft.com/office/drawing/2014/main" val="1388344345"/>
                    </a:ext>
                  </a:extLst>
                </a:gridCol>
              </a:tblGrid>
              <a:tr h="3108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AUTHOR(S) / YEAR</a:t>
                      </a:r>
                    </a:p>
                  </a:txBody>
                  <a:tcPr marL="30999" marR="30999" marT="15500" marB="15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RESEARCH PAPER</a:t>
                      </a:r>
                    </a:p>
                  </a:txBody>
                  <a:tcPr marL="30999" marR="30999" marT="15500" marB="15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MAIN IDEA</a:t>
                      </a:r>
                    </a:p>
                  </a:txBody>
                  <a:tcPr marL="30999" marR="30999" marT="15500" marB="15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RELEVANCE TO OUR PROJECT</a:t>
                      </a:r>
                    </a:p>
                  </a:txBody>
                  <a:tcPr marL="30999" marR="30999" marT="15500" marB="15500" anchor="ctr"/>
                </a:tc>
                <a:extLst>
                  <a:ext uri="{0D108BD9-81ED-4DB2-BD59-A6C34878D82A}">
                    <a16:rowId xmlns:a16="http://schemas.microsoft.com/office/drawing/2014/main" val="3433129450"/>
                  </a:ext>
                </a:extLst>
              </a:tr>
              <a:tr h="1215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C. Santhanakrishnan, Divyansh Sharma &amp; Adarsh </a:t>
                      </a:r>
                      <a:r>
                        <a:rPr lang="en-IN" sz="1800" dirty="0" err="1"/>
                        <a:t>Vashistha</a:t>
                      </a:r>
                      <a:r>
                        <a:rPr lang="en-IN" sz="1800" dirty="0"/>
                        <a:t> (2020)</a:t>
                      </a:r>
                    </a:p>
                  </a:txBody>
                  <a:tcPr marL="30999" marR="30999" marT="15500" marB="15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Smart Helmet for Rider (SHR) and Accident Detection using IoT</a:t>
                      </a:r>
                    </a:p>
                  </a:txBody>
                  <a:tcPr marL="30999" marR="30999" marT="15500" marB="15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Combines helmet detection, alcohol detection, vibration-based accident detection, GPS and GSM emergency messaging.</a:t>
                      </a:r>
                    </a:p>
                  </a:txBody>
                  <a:tcPr marL="30999" marR="30999" marT="15500" marB="15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Shows how multiple safety functions can be integrated into a single helmet system and supports automatic accident-location sharing.</a:t>
                      </a:r>
                    </a:p>
                  </a:txBody>
                  <a:tcPr marL="30999" marR="30999" marT="15500" marB="15500" anchor="ctr"/>
                </a:tc>
                <a:extLst>
                  <a:ext uri="{0D108BD9-81ED-4DB2-BD59-A6C34878D82A}">
                    <a16:rowId xmlns:a16="http://schemas.microsoft.com/office/drawing/2014/main" val="1049142192"/>
                  </a:ext>
                </a:extLst>
              </a:tr>
              <a:tr h="1215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 err="1"/>
                        <a:t>Cowsigan</a:t>
                      </a:r>
                      <a:r>
                        <a:rPr lang="en-IN" sz="1800" dirty="0"/>
                        <a:t> S. P., Sankari R., Sasi Kumar P. K., Nilaani K. &amp; Chandra Prasad V. (2020)</a:t>
                      </a:r>
                    </a:p>
                  </a:txBody>
                  <a:tcPr marL="30999" marR="30999" marT="15500" marB="15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Smart Helmet With GPS and GSM</a:t>
                      </a:r>
                    </a:p>
                  </a:txBody>
                  <a:tcPr marL="30999" marR="30999" marT="15500" marB="15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Uses vibration and ultrasonic sensors with Raspberry Pi, GPS and GSM to detect accidents and send the rider’s location to emergency contacts.</a:t>
                      </a:r>
                    </a:p>
                  </a:txBody>
                  <a:tcPr marL="30999" marR="30999" marT="15500" marB="15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Establishes the basic concept of automatic accident detection + GPS location sharing to reduce emergency-response time.</a:t>
                      </a:r>
                    </a:p>
                  </a:txBody>
                  <a:tcPr marL="30999" marR="30999" marT="15500" marB="15500" anchor="ctr"/>
                </a:tc>
                <a:extLst>
                  <a:ext uri="{0D108BD9-81ED-4DB2-BD59-A6C34878D82A}">
                    <a16:rowId xmlns:a16="http://schemas.microsoft.com/office/drawing/2014/main" val="2935530170"/>
                  </a:ext>
                </a:extLst>
              </a:tr>
              <a:tr h="1215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Md. Atiqur Rahman, Toufiq Ahmed, S. M. Ahsanuzzaman, Abid Ahsan &amp; Ishman Rahman (2020)</a:t>
                      </a:r>
                    </a:p>
                  </a:txBody>
                  <a:tcPr marL="30999" marR="30999" marT="15500" marB="15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IoT Based Smart Helmet and Accident Identification System</a:t>
                      </a:r>
                    </a:p>
                  </a:txBody>
                  <a:tcPr marL="30999" marR="30999" marT="15500" marB="15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Uses IoT-based sensing to identify motorcycle accidents and support safety and emergency response.</a:t>
                      </a:r>
                    </a:p>
                  </a:txBody>
                  <a:tcPr marL="30999" marR="30999" marT="15500" marB="15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Relevant to developing an IoT-enabled helmet capable of identifying accidents and communicating emergency information.</a:t>
                      </a:r>
                    </a:p>
                  </a:txBody>
                  <a:tcPr marL="30999" marR="30999" marT="15500" marB="15500" anchor="ctr"/>
                </a:tc>
                <a:extLst>
                  <a:ext uri="{0D108BD9-81ED-4DB2-BD59-A6C34878D82A}">
                    <a16:rowId xmlns:a16="http://schemas.microsoft.com/office/drawing/2014/main" val="468152605"/>
                  </a:ext>
                </a:extLst>
              </a:tr>
              <a:tr h="1085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Mohammad Ehsanul Alim (2020)</a:t>
                      </a:r>
                    </a:p>
                  </a:txBody>
                  <a:tcPr marL="30999" marR="30999" marT="15500" marB="15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Design &amp; Implementation of IoT Based Smart Helmet for Road Accident Detection</a:t>
                      </a:r>
                    </a:p>
                  </a:txBody>
                  <a:tcPr marL="30999" marR="30999" marT="15500" marB="15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Presents an IoT smart helmet concept for detecting road accidents and improving motorcycle-rider safety.</a:t>
                      </a:r>
                    </a:p>
                  </a:txBody>
                  <a:tcPr marL="30999" marR="30999" marT="15500" marB="15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Supports the use of connected sensors and communication technology for faster accident response.</a:t>
                      </a:r>
                    </a:p>
                  </a:txBody>
                  <a:tcPr marL="30999" marR="30999" marT="15500" marB="15500" anchor="ctr"/>
                </a:tc>
                <a:extLst>
                  <a:ext uri="{0D108BD9-81ED-4DB2-BD59-A6C34878D82A}">
                    <a16:rowId xmlns:a16="http://schemas.microsoft.com/office/drawing/2014/main" val="3864387028"/>
                  </a:ext>
                </a:extLst>
              </a:tr>
              <a:tr h="95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Bhavesh Shahare, Shivani Chawde, Rakesh Gudafwar, Harshada Pal &amp; Purvi Bobade (2020)</a:t>
                      </a:r>
                    </a:p>
                  </a:txBody>
                  <a:tcPr marL="30999" marR="30999" marT="15500" marB="15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IoT Based Smart Motorcycle Helmet</a:t>
                      </a:r>
                    </a:p>
                  </a:txBody>
                  <a:tcPr marL="30999" marR="30999" marT="15500" marB="15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Integrates accident identification, GPS, GSM, alcohol detection, fall detection and helmet-use monitoring.</a:t>
                      </a:r>
                    </a:p>
                  </a:txBody>
                  <a:tcPr marL="30999" marR="30999" marT="15500" marB="15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Demonstrates the potential for combining several active-safety features in one smart helmet.</a:t>
                      </a:r>
                    </a:p>
                  </a:txBody>
                  <a:tcPr marL="30999" marR="30999" marT="15500" marB="15500" anchor="ctr"/>
                </a:tc>
                <a:extLst>
                  <a:ext uri="{0D108BD9-81ED-4DB2-BD59-A6C34878D82A}">
                    <a16:rowId xmlns:a16="http://schemas.microsoft.com/office/drawing/2014/main" val="700487683"/>
                  </a:ext>
                </a:extLst>
              </a:tr>
              <a:tr h="1085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Tanuja Bhende, Khushali Mahendra Thakur, Sejal Dhanraj Thakare, Vinay Ravindra Jambhulkar &amp; Aditya Manoj Kale (2026)</a:t>
                      </a:r>
                    </a:p>
                  </a:txBody>
                  <a:tcPr marL="30999" marR="30999" marT="15500" marB="15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Development of Smart Helmet for Accident Prevention Using IoT</a:t>
                      </a:r>
                    </a:p>
                  </a:txBody>
                  <a:tcPr marL="30999" marR="30999" marT="15500" marB="15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Uses impact and alcohol sensors with GPS/GSM to detect accidents and send real-time alerts.</a:t>
                      </a:r>
                    </a:p>
                  </a:txBody>
                  <a:tcPr marL="30999" marR="30999" marT="15500" marB="15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Directly supports the concept of automatic accident notification and location sharing for reducing response time.</a:t>
                      </a:r>
                    </a:p>
                  </a:txBody>
                  <a:tcPr marL="30999" marR="30999" marT="15500" marB="15500" anchor="ctr"/>
                </a:tc>
                <a:extLst>
                  <a:ext uri="{0D108BD9-81ED-4DB2-BD59-A6C34878D82A}">
                    <a16:rowId xmlns:a16="http://schemas.microsoft.com/office/drawing/2014/main" val="3025134178"/>
                  </a:ext>
                </a:extLst>
              </a:tr>
              <a:tr h="1215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Khawaja Moeez Ur Rahman, Khawaja Maaz Ur Rahman, Jannat Akbar, Rabeya Hamood, Ayaz Ur Rehman &amp; Khawaja Hammad Ur Rahman (2025/26)</a:t>
                      </a:r>
                    </a:p>
                  </a:txBody>
                  <a:tcPr marL="30999" marR="30999" marT="15500" marB="15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Battery-Efficient IoT-Enabled Smart Helmet for Real-Time Motorcycle Accident Detection and Notification</a:t>
                      </a:r>
                    </a:p>
                  </a:txBody>
                  <a:tcPr marL="30999" marR="30999" marT="15500" marB="15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Focuses on a battery-efficient IoT smart helmet for real-time accident detection and immediate notification.</a:t>
                      </a:r>
                    </a:p>
                  </a:txBody>
                  <a:tcPr marL="30999" marR="30999" marT="15500" marB="15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Relevant to creating a practical helmet that can continuously operate while maintaining rapid emergency notification.</a:t>
                      </a:r>
                    </a:p>
                  </a:txBody>
                  <a:tcPr marL="30999" marR="30999" marT="15500" marB="15500" anchor="ctr"/>
                </a:tc>
                <a:extLst>
                  <a:ext uri="{0D108BD9-81ED-4DB2-BD59-A6C34878D82A}">
                    <a16:rowId xmlns:a16="http://schemas.microsoft.com/office/drawing/2014/main" val="3395806860"/>
                  </a:ext>
                </a:extLst>
              </a:tr>
              <a:tr h="1215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A Low-Cost Smart Helmet with Accident Detection and Emergency Response for Bike Riders (2026)</a:t>
                      </a:r>
                    </a:p>
                  </a:txBody>
                  <a:tcPr marL="30999" marR="30999" marT="15500" marB="15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Low-cost smart helmet using IMU, impact sensors and GPS-GSM</a:t>
                      </a:r>
                    </a:p>
                  </a:txBody>
                  <a:tcPr marL="30999" marR="30999" marT="15500" marB="15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Reports 93.7% detection accuracy, 2.6% false-positive rate and 2.8-second mean emergency-alert latency in experimental testing.</a:t>
                      </a:r>
                    </a:p>
                  </a:txBody>
                  <a:tcPr marL="30999" marR="30999" marT="15500" marB="15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Provides evidence that low-cost, standalone accident detection can support rapid emergency alerts and reduce avoidable response delays.</a:t>
                      </a:r>
                    </a:p>
                  </a:txBody>
                  <a:tcPr marL="30999" marR="30999" marT="15500" marB="15500" anchor="ctr"/>
                </a:tc>
                <a:extLst>
                  <a:ext uri="{0D108BD9-81ED-4DB2-BD59-A6C34878D82A}">
                    <a16:rowId xmlns:a16="http://schemas.microsoft.com/office/drawing/2014/main" val="3463347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7296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CB1CD3-8CB7-88CD-1947-E627C433D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7637" y="-56010"/>
            <a:ext cx="18633056" cy="103990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6D17A7-4CCF-639D-A62C-2BB6379DE3A4}"/>
              </a:ext>
            </a:extLst>
          </p:cNvPr>
          <p:cNvSpPr txBox="1"/>
          <p:nvPr/>
        </p:nvSpPr>
        <p:spPr>
          <a:xfrm>
            <a:off x="4770409" y="1"/>
            <a:ext cx="84538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300" u="sng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SECONDARY RESEARCH</a:t>
            </a:r>
          </a:p>
          <a:p>
            <a:pPr algn="ctr"/>
            <a:endParaRPr lang="en-IN" sz="33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96D8336-9C5A-3D8F-B206-760B02EDD9AA}"/>
              </a:ext>
            </a:extLst>
          </p:cNvPr>
          <p:cNvGraphicFramePr>
            <a:graphicFrameLocks noGrp="1"/>
          </p:cNvGraphicFramePr>
          <p:nvPr/>
        </p:nvGraphicFramePr>
        <p:xfrm>
          <a:off x="21567" y="729694"/>
          <a:ext cx="18434648" cy="100377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08662">
                  <a:extLst>
                    <a:ext uri="{9D8B030D-6E8A-4147-A177-3AD203B41FA5}">
                      <a16:colId xmlns:a16="http://schemas.microsoft.com/office/drawing/2014/main" val="1626369832"/>
                    </a:ext>
                  </a:extLst>
                </a:gridCol>
                <a:gridCol w="4608662">
                  <a:extLst>
                    <a:ext uri="{9D8B030D-6E8A-4147-A177-3AD203B41FA5}">
                      <a16:colId xmlns:a16="http://schemas.microsoft.com/office/drawing/2014/main" val="3797103671"/>
                    </a:ext>
                  </a:extLst>
                </a:gridCol>
                <a:gridCol w="4608662">
                  <a:extLst>
                    <a:ext uri="{9D8B030D-6E8A-4147-A177-3AD203B41FA5}">
                      <a16:colId xmlns:a16="http://schemas.microsoft.com/office/drawing/2014/main" val="663355826"/>
                    </a:ext>
                  </a:extLst>
                </a:gridCol>
                <a:gridCol w="4608662">
                  <a:extLst>
                    <a:ext uri="{9D8B030D-6E8A-4147-A177-3AD203B41FA5}">
                      <a16:colId xmlns:a16="http://schemas.microsoft.com/office/drawing/2014/main" val="196215066"/>
                    </a:ext>
                  </a:extLst>
                </a:gridCol>
              </a:tblGrid>
              <a:tr h="60055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700" dirty="0"/>
                    </a:p>
                  </a:txBody>
                  <a:tcPr marL="61718" marR="61718" marT="30860" marB="30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700" dirty="0"/>
                    </a:p>
                  </a:txBody>
                  <a:tcPr marL="61718" marR="61718" marT="30860" marB="30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700"/>
                    </a:p>
                  </a:txBody>
                  <a:tcPr marL="61718" marR="61718" marT="30860" marB="30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700" dirty="0"/>
                    </a:p>
                  </a:txBody>
                  <a:tcPr marL="61718" marR="61718" marT="30860" marB="30860" anchor="ctr"/>
                </a:tc>
                <a:extLst>
                  <a:ext uri="{0D108BD9-81ED-4DB2-BD59-A6C34878D82A}">
                    <a16:rowId xmlns:a16="http://schemas.microsoft.com/office/drawing/2014/main" val="3348467423"/>
                  </a:ext>
                </a:extLst>
              </a:tr>
              <a:tr h="600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dirty="0"/>
                        <a:t>INVENTOR(S)</a:t>
                      </a:r>
                    </a:p>
                  </a:txBody>
                  <a:tcPr marL="61718" marR="61718" marT="30860" marB="30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/>
                        <a:t>PATENT</a:t>
                      </a:r>
                    </a:p>
                  </a:txBody>
                  <a:tcPr marL="61718" marR="61718" marT="30860" marB="30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/>
                        <a:t>MAIN IDEA</a:t>
                      </a:r>
                    </a:p>
                  </a:txBody>
                  <a:tcPr marL="61718" marR="61718" marT="30860" marB="30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/>
                        <a:t>RELEVANCE TO OUR PROJECT</a:t>
                      </a:r>
                    </a:p>
                  </a:txBody>
                  <a:tcPr marL="61718" marR="61718" marT="30860" marB="30860" anchor="ctr"/>
                </a:tc>
                <a:extLst>
                  <a:ext uri="{0D108BD9-81ED-4DB2-BD59-A6C34878D82A}">
                    <a16:rowId xmlns:a16="http://schemas.microsoft.com/office/drawing/2014/main" val="2403170013"/>
                  </a:ext>
                </a:extLst>
              </a:tr>
              <a:tr h="2144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dirty="0"/>
                        <a:t>Anirudha Surabhi Venkata </a:t>
                      </a:r>
                      <a:r>
                        <a:rPr lang="en-IN" sz="2700" dirty="0" err="1"/>
                        <a:t>Jaganadha</a:t>
                      </a:r>
                      <a:r>
                        <a:rPr lang="en-IN" sz="2700" dirty="0"/>
                        <a:t> Rao(2022)</a:t>
                      </a:r>
                    </a:p>
                  </a:txBody>
                  <a:tcPr marL="61718" marR="61718" marT="30860" marB="30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dirty="0"/>
                        <a:t>US20220047028A1 – Integrated Smart Helmet and Methods and Systems of Controlling Smart Helmet</a:t>
                      </a:r>
                    </a:p>
                  </a:txBody>
                  <a:tcPr marL="61718" marR="61718" marT="30860" marB="30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/>
                        <a:t>Detects impacts, determines whether the rider is involved in a crash and sends location-based notifications to emergency contacts.</a:t>
                      </a:r>
                    </a:p>
                  </a:txBody>
                  <a:tcPr marL="61718" marR="61718" marT="30860" marB="30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dirty="0"/>
                        <a:t>Highly relevant to automatic crash detection + GPS location + emergency communication. (</a:t>
                      </a:r>
                      <a:r>
                        <a:rPr lang="en-IN" sz="2700" dirty="0">
                          <a:hlinkClick r:id="rId3" tooltip="US20220047028A1 - Integrated smart helmet and methods and systems of controlling smart helmet - Google Patents"/>
                        </a:rPr>
                        <a:t>Google Patents</a:t>
                      </a:r>
                      <a:r>
                        <a:rPr lang="en-IN" sz="2700" dirty="0"/>
                        <a:t>)</a:t>
                      </a:r>
                    </a:p>
                  </a:txBody>
                  <a:tcPr marL="61718" marR="61718" marT="30860" marB="30860" anchor="ctr"/>
                </a:tc>
                <a:extLst>
                  <a:ext uri="{0D108BD9-81ED-4DB2-BD59-A6C34878D82A}">
                    <a16:rowId xmlns:a16="http://schemas.microsoft.com/office/drawing/2014/main" val="3763959560"/>
                  </a:ext>
                </a:extLst>
              </a:tr>
              <a:tr h="24022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b="0" dirty="0">
                          <a:latin typeface="+mn-lt"/>
                        </a:rPr>
                        <a:t>Suk-Hoon Oh &amp; Jeong-Il Choi</a:t>
                      </a:r>
                      <a:br>
                        <a:rPr lang="en-IN" sz="2700" b="0" dirty="0">
                          <a:latin typeface="+mn-lt"/>
                        </a:rPr>
                      </a:br>
                      <a:r>
                        <a:rPr lang="en-IN" sz="2700" b="0" dirty="0">
                          <a:latin typeface="+mn-lt"/>
                        </a:rPr>
                        <a:t>(2020)</a:t>
                      </a:r>
                    </a:p>
                  </a:txBody>
                  <a:tcPr marL="61718" marR="61718" marT="30860" marB="30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/>
                        <a:t>US20190357618A1 – Smart Helmet Fall Detection Method and Smart Helmet</a:t>
                      </a:r>
                    </a:p>
                  </a:txBody>
                  <a:tcPr marL="61718" marR="61718" marT="30860" marB="30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dirty="0"/>
                        <a:t>Detects combinations of free fall, collision and motionlessness and generates an emergency signal when the conditions indicate a fall.</a:t>
                      </a:r>
                    </a:p>
                  </a:txBody>
                  <a:tcPr marL="61718" marR="61718" marT="30860" marB="30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/>
                        <a:t>Relevant to confirming an actual accident before sending an emergency alert and reducing false alarms. (</a:t>
                      </a:r>
                      <a:r>
                        <a:rPr lang="en-IN" sz="2700">
                          <a:hlinkClick r:id="rId4" tooltip="US20190357618A1 - Smart helmet fall detection method and smart helmet - Google Patents"/>
                        </a:rPr>
                        <a:t>Google Patents</a:t>
                      </a:r>
                      <a:r>
                        <a:rPr lang="en-IN" sz="2700"/>
                        <a:t>)</a:t>
                      </a:r>
                    </a:p>
                  </a:txBody>
                  <a:tcPr marL="61718" marR="61718" marT="30860" marB="30860" anchor="ctr"/>
                </a:tc>
                <a:extLst>
                  <a:ext uri="{0D108BD9-81ED-4DB2-BD59-A6C34878D82A}">
                    <a16:rowId xmlns:a16="http://schemas.microsoft.com/office/drawing/2014/main" val="3495253893"/>
                  </a:ext>
                </a:extLst>
              </a:tr>
              <a:tr h="2144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dirty="0"/>
                        <a:t>Bo Zheng, Yongzheng Ye &amp; </a:t>
                      </a:r>
                      <a:r>
                        <a:rPr lang="en-IN" sz="2700" dirty="0" err="1"/>
                        <a:t>Xiangling</a:t>
                      </a:r>
                      <a:r>
                        <a:rPr lang="en-IN" sz="2700" dirty="0"/>
                        <a:t> Yi2021</a:t>
                      </a:r>
                    </a:p>
                  </a:txBody>
                  <a:tcPr marL="61718" marR="61718" marT="30860" marB="30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/>
                        <a:t>US10897947B2 – Smart Helmet Fall Detection Method and Smart Helmet</a:t>
                      </a:r>
                    </a:p>
                  </a:txBody>
                  <a:tcPr marL="61718" marR="61718" marT="30860" marB="30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dirty="0"/>
                        <a:t>Granted patent covering the smart-helmet fall-detection method using acceleration, collision and motionlessness detection.</a:t>
                      </a:r>
                    </a:p>
                  </a:txBody>
                  <a:tcPr marL="61718" marR="61718" marT="30860" marB="30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dirty="0"/>
                        <a:t>Supports reliable accident/fall detection and emergency signalling when the rider may be unable to call for help. (</a:t>
                      </a:r>
                      <a:r>
                        <a:rPr lang="en-IN" sz="2700" dirty="0">
                          <a:hlinkClick r:id="rId5" tooltip="US10897947B2 - Smart helmet fall detection method and smart helmet - Google Patents"/>
                        </a:rPr>
                        <a:t>Google Patents</a:t>
                      </a:r>
                      <a:r>
                        <a:rPr lang="en-IN" sz="2700" dirty="0"/>
                        <a:t>)</a:t>
                      </a:r>
                    </a:p>
                  </a:txBody>
                  <a:tcPr marL="61718" marR="61718" marT="30860" marB="30860" anchor="ctr"/>
                </a:tc>
                <a:extLst>
                  <a:ext uri="{0D108BD9-81ED-4DB2-BD59-A6C34878D82A}">
                    <a16:rowId xmlns:a16="http://schemas.microsoft.com/office/drawing/2014/main" val="3027935919"/>
                  </a:ext>
                </a:extLst>
              </a:tr>
              <a:tr h="2144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/>
                        <a:t>Anirudha Surabhi Venkata Jagannadha Rao2022</a:t>
                      </a:r>
                    </a:p>
                  </a:txBody>
                  <a:tcPr marL="61718" marR="61718" marT="30860" marB="30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/>
                        <a:t>US11406152B2 – Integrated Smart Helmet</a:t>
                      </a:r>
                    </a:p>
                  </a:txBody>
                  <a:tcPr marL="61718" marR="61718" marT="30860" marB="30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/>
                        <a:t>Granted patent for an integrated smart helmet involving crash detection and helmet-control systems.</a:t>
                      </a:r>
                    </a:p>
                  </a:txBody>
                  <a:tcPr marL="61718" marR="61718" marT="30860" marB="308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dirty="0"/>
                        <a:t>Relevant to integrating crash detection, location-based functions and emergency-response features into one helmet. (</a:t>
                      </a:r>
                      <a:r>
                        <a:rPr lang="en-IN" sz="2700" dirty="0">
                          <a:hlinkClick r:id="rId6" tooltip="US11406152B2 - Integrated smart helmet and methods and systems of controlling smart helmet - Google Patents"/>
                        </a:rPr>
                        <a:t>Google Patents</a:t>
                      </a:r>
                      <a:r>
                        <a:rPr lang="en-IN" sz="2700" dirty="0"/>
                        <a:t>)</a:t>
                      </a:r>
                    </a:p>
                  </a:txBody>
                  <a:tcPr marL="61718" marR="61718" marT="30860" marB="30860" anchor="ctr"/>
                </a:tc>
                <a:extLst>
                  <a:ext uri="{0D108BD9-81ED-4DB2-BD59-A6C34878D82A}">
                    <a16:rowId xmlns:a16="http://schemas.microsoft.com/office/drawing/2014/main" val="547521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60922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85725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62000" y="685800"/>
            <a:ext cx="12382500" cy="59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Empathy Map — Two-Wheeler Rider</a:t>
            </a:r>
            <a:endParaRPr lang="en-US" sz="4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571625"/>
            <a:ext cx="5905500" cy="276225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571625"/>
            <a:ext cx="5905500" cy="276225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524375"/>
            <a:ext cx="5905500" cy="238125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4524375"/>
            <a:ext cx="5905500" cy="238125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3857625"/>
            <a:ext cx="1143000" cy="114300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6191250" y="4267200"/>
            <a:ext cx="1143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RIDER</a:t>
            </a:r>
            <a:endParaRPr lang="en-US" sz="1800" dirty="0"/>
          </a:p>
        </p:txBody>
      </p:sp>
      <p:sp>
        <p:nvSpPr>
          <p:cNvPr id="10" name="Text 3"/>
          <p:cNvSpPr/>
          <p:nvPr/>
        </p:nvSpPr>
        <p:spPr>
          <a:xfrm>
            <a:off x="1047750" y="1762125"/>
            <a:ext cx="38100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FF6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💬  SAYS</a:t>
            </a:r>
            <a:endParaRPr lang="en-US" sz="1950" dirty="0"/>
          </a:p>
        </p:txBody>
      </p:sp>
      <p:sp>
        <p:nvSpPr>
          <p:cNvPr id="11" name="Text 4"/>
          <p:cNvSpPr/>
          <p:nvPr/>
        </p:nvSpPr>
        <p:spPr>
          <a:xfrm>
            <a:off x="1047750" y="2381250"/>
            <a:ext cx="5143500" cy="1314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E6E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 helmet protects my head, but it can't call for help."</a:t>
            </a:r>
            <a:endParaRPr lang="en-US" sz="1500" dirty="0"/>
          </a:p>
          <a:p>
            <a:pPr marL="342900" indent="-342900" algn="l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E6E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"It should detect an accident automatically."</a:t>
            </a:r>
            <a:endParaRPr lang="en-US" sz="1500" dirty="0"/>
          </a:p>
          <a:p>
            <a:pPr marL="342900" indent="-342900" algn="l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E6E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"Emergency alerts to family would be useful."</a:t>
            </a:r>
            <a:endParaRPr lang="en-US" sz="1500" dirty="0"/>
          </a:p>
          <a:p>
            <a:pPr marL="342900" indent="-342900" algn="l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E6E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"Sharing my GPS location would help rescuers."</a:t>
            </a:r>
            <a:endParaRPr lang="en-US" sz="1500" dirty="0"/>
          </a:p>
          <a:p>
            <a:pPr marL="342900" indent="-342900" algn="l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E6E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"Alcohol detection could stop drunk riding."</a:t>
            </a:r>
            <a:endParaRPr lang="en-US" sz="1500" dirty="0"/>
          </a:p>
        </p:txBody>
      </p:sp>
      <p:sp>
        <p:nvSpPr>
          <p:cNvPr id="12" name="Text 5"/>
          <p:cNvSpPr/>
          <p:nvPr/>
        </p:nvSpPr>
        <p:spPr>
          <a:xfrm>
            <a:off x="7715250" y="1762125"/>
            <a:ext cx="38100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FF6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💭  THINKS</a:t>
            </a:r>
            <a:endParaRPr lang="en-US" sz="1950" dirty="0"/>
          </a:p>
        </p:txBody>
      </p:sp>
      <p:sp>
        <p:nvSpPr>
          <p:cNvPr id="13" name="Text 6"/>
          <p:cNvSpPr/>
          <p:nvPr/>
        </p:nvSpPr>
        <p:spPr>
          <a:xfrm>
            <a:off x="7715250" y="2190750"/>
            <a:ext cx="4857750" cy="1314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45000"/>
              </a:lnSpc>
              <a:buSzPct val="100000"/>
              <a:buChar char="•"/>
            </a:pPr>
            <a:r>
              <a:rPr lang="en-US" sz="1425" dirty="0">
                <a:solidFill>
                  <a:srgbClr val="E6E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will call for help if I'm hurt alone?</a:t>
            </a:r>
            <a:endParaRPr lang="en-US" sz="1425" dirty="0"/>
          </a:p>
          <a:p>
            <a:pPr marL="342900" indent="-342900" algn="l">
              <a:lnSpc>
                <a:spcPct val="145000"/>
              </a:lnSpc>
              <a:buSzPct val="100000"/>
              <a:buChar char="•"/>
            </a:pPr>
            <a:r>
              <a:rPr lang="en-US" sz="1425" dirty="0">
                <a:solidFill>
                  <a:srgbClr val="E6E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need more awareness of traffic around me</a:t>
            </a:r>
            <a:endParaRPr lang="en-US" sz="1425" dirty="0"/>
          </a:p>
          <a:p>
            <a:pPr marL="342900" indent="-342900" algn="l">
              <a:lnSpc>
                <a:spcPct val="145000"/>
              </a:lnSpc>
              <a:buSzPct val="100000"/>
              <a:buChar char="•"/>
            </a:pPr>
            <a:r>
              <a:rPr lang="en-US" sz="1425" dirty="0">
                <a:solidFill>
                  <a:srgbClr val="E6E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Helmets could offer more than protection</a:t>
            </a:r>
            <a:endParaRPr lang="en-US" sz="1425" dirty="0"/>
          </a:p>
          <a:p>
            <a:pPr marL="342900" indent="-342900" algn="l">
              <a:lnSpc>
                <a:spcPct val="145000"/>
              </a:lnSpc>
              <a:buSzPct val="100000"/>
              <a:buChar char="•"/>
            </a:pPr>
            <a:r>
              <a:rPr lang="en-US" sz="1425" dirty="0">
                <a:solidFill>
                  <a:srgbClr val="E6E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 features must stay comfortable</a:t>
            </a:r>
            <a:endParaRPr lang="en-US" sz="1425" dirty="0"/>
          </a:p>
          <a:p>
            <a:pPr marL="342900" indent="-342900" algn="l">
              <a:lnSpc>
                <a:spcPct val="145000"/>
              </a:lnSpc>
              <a:buSzPct val="100000"/>
              <a:buChar char="•"/>
            </a:pPr>
            <a:r>
              <a:rPr lang="en-US" sz="1425" dirty="0">
                <a:solidFill>
                  <a:srgbClr val="E6E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smart helmet must remain affordable</a:t>
            </a:r>
            <a:endParaRPr lang="en-US" sz="1425" dirty="0"/>
          </a:p>
        </p:txBody>
      </p:sp>
      <p:sp>
        <p:nvSpPr>
          <p:cNvPr id="14" name="Text 7"/>
          <p:cNvSpPr/>
          <p:nvPr/>
        </p:nvSpPr>
        <p:spPr>
          <a:xfrm>
            <a:off x="1047750" y="4714875"/>
            <a:ext cx="38100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FF6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🏍  DOES</a:t>
            </a:r>
            <a:endParaRPr lang="en-US" sz="1950" dirty="0"/>
          </a:p>
        </p:txBody>
      </p:sp>
      <p:sp>
        <p:nvSpPr>
          <p:cNvPr id="15" name="Text 8"/>
          <p:cNvSpPr/>
          <p:nvPr/>
        </p:nvSpPr>
        <p:spPr>
          <a:xfrm>
            <a:off x="1047750" y="5143500"/>
            <a:ext cx="4953000" cy="1314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45000"/>
              </a:lnSpc>
              <a:buSzPct val="100000"/>
              <a:buChar char="•"/>
            </a:pPr>
            <a:r>
              <a:rPr lang="en-US" sz="1425" dirty="0">
                <a:solidFill>
                  <a:srgbClr val="E6E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Rides regularly for daily commuting</a:t>
            </a:r>
            <a:endParaRPr lang="en-US" sz="1425" dirty="0"/>
          </a:p>
          <a:p>
            <a:pPr marL="342900" indent="-342900" algn="l">
              <a:lnSpc>
                <a:spcPct val="145000"/>
              </a:lnSpc>
              <a:buSzPct val="100000"/>
              <a:buChar char="•"/>
            </a:pPr>
            <a:r>
              <a:rPr lang="en-US" sz="1425" dirty="0">
                <a:solidFill>
                  <a:srgbClr val="E6E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Wears a helmet as a routine habit</a:t>
            </a:r>
            <a:endParaRPr lang="en-US" sz="1425" dirty="0"/>
          </a:p>
          <a:p>
            <a:pPr marL="342900" indent="-342900" algn="l">
              <a:lnSpc>
                <a:spcPct val="145000"/>
              </a:lnSpc>
              <a:buSzPct val="100000"/>
              <a:buChar char="•"/>
            </a:pPr>
            <a:r>
              <a:rPr lang="en-US" sz="1425" dirty="0">
                <a:solidFill>
                  <a:srgbClr val="E6E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Watches surrounding vehicles closely</a:t>
            </a:r>
            <a:endParaRPr lang="en-US" sz="1425" dirty="0"/>
          </a:p>
          <a:p>
            <a:pPr marL="342900" indent="-342900" algn="l">
              <a:lnSpc>
                <a:spcPct val="145000"/>
              </a:lnSpc>
              <a:buSzPct val="100000"/>
              <a:buChar char="•"/>
            </a:pPr>
            <a:r>
              <a:rPr lang="en-US" sz="1425" dirty="0">
                <a:solidFill>
                  <a:srgbClr val="E6E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Relies on a conventional helmet</a:t>
            </a:r>
            <a:endParaRPr lang="en-US" sz="1425" dirty="0"/>
          </a:p>
          <a:p>
            <a:pPr marL="342900" indent="-342900" algn="l">
              <a:lnSpc>
                <a:spcPct val="145000"/>
              </a:lnSpc>
              <a:buSzPct val="100000"/>
              <a:buChar char="•"/>
            </a:pPr>
            <a:r>
              <a:rPr lang="en-US" sz="1425" dirty="0">
                <a:solidFill>
                  <a:srgbClr val="E6E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Occasionally skips the helmet</a:t>
            </a:r>
            <a:endParaRPr lang="en-US" sz="1425" dirty="0"/>
          </a:p>
        </p:txBody>
      </p:sp>
      <p:sp>
        <p:nvSpPr>
          <p:cNvPr id="16" name="Text 9"/>
          <p:cNvSpPr/>
          <p:nvPr/>
        </p:nvSpPr>
        <p:spPr>
          <a:xfrm>
            <a:off x="7715250" y="4714875"/>
            <a:ext cx="38100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FF6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❤  FEELS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7715250" y="5143500"/>
            <a:ext cx="4857750" cy="1314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45000"/>
              </a:lnSpc>
              <a:buSzPct val="100000"/>
              <a:buChar char="•"/>
            </a:pPr>
            <a:r>
              <a:rPr lang="en-US" sz="1425" dirty="0">
                <a:solidFill>
                  <a:srgbClr val="E6E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Worried about accidents</a:t>
            </a:r>
            <a:endParaRPr lang="en-US" sz="1425" dirty="0"/>
          </a:p>
          <a:p>
            <a:pPr marL="342900" indent="-342900" algn="l">
              <a:lnSpc>
                <a:spcPct val="145000"/>
              </a:lnSpc>
              <a:buSzPct val="100000"/>
              <a:buChar char="•"/>
            </a:pPr>
            <a:r>
              <a:rPr lang="en-US" sz="1425" dirty="0">
                <a:solidFill>
                  <a:srgbClr val="E6E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Vulnerable in heavy traffic</a:t>
            </a:r>
            <a:endParaRPr lang="en-US" sz="1425" dirty="0"/>
          </a:p>
          <a:p>
            <a:pPr marL="342900" indent="-342900" algn="l">
              <a:lnSpc>
                <a:spcPct val="145000"/>
              </a:lnSpc>
              <a:buSzPct val="100000"/>
              <a:buChar char="•"/>
            </a:pPr>
            <a:r>
              <a:rPr lang="en-US" sz="1425" dirty="0">
                <a:solidFill>
                  <a:srgbClr val="E6E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Anxious about blind spots</a:t>
            </a:r>
            <a:endParaRPr lang="en-US" sz="1425" dirty="0"/>
          </a:p>
          <a:p>
            <a:pPr marL="342900" indent="-342900" algn="l">
              <a:lnSpc>
                <a:spcPct val="145000"/>
              </a:lnSpc>
              <a:buSzPct val="100000"/>
              <a:buChar char="•"/>
            </a:pPr>
            <a:r>
              <a:rPr lang="en-US" sz="1425" dirty="0">
                <a:solidFill>
                  <a:srgbClr val="E6E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Uncomfortable from heat and sweat</a:t>
            </a:r>
            <a:endParaRPr lang="en-US" sz="1425" dirty="0"/>
          </a:p>
          <a:p>
            <a:pPr marL="342900" indent="-342900" algn="l">
              <a:lnSpc>
                <a:spcPct val="145000"/>
              </a:lnSpc>
              <a:buSzPct val="100000"/>
              <a:buChar char="•"/>
            </a:pPr>
            <a:r>
              <a:rPr lang="en-US" sz="1425" dirty="0">
                <a:solidFill>
                  <a:srgbClr val="E6E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Wants safety without losing comfort</a:t>
            </a:r>
            <a:endParaRPr lang="en-US" sz="1425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7096125"/>
            <a:ext cx="5905500" cy="280987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47750" y="7286625"/>
            <a:ext cx="47625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5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⚠  PAIN POINTS</a:t>
            </a:r>
            <a:endParaRPr lang="en-US" sz="1800" dirty="0"/>
          </a:p>
        </p:txBody>
      </p:sp>
      <p:sp>
        <p:nvSpPr>
          <p:cNvPr id="20" name="Text 12"/>
          <p:cNvSpPr/>
          <p:nvPr/>
        </p:nvSpPr>
        <p:spPr>
          <a:xfrm>
            <a:off x="1047750" y="7696200"/>
            <a:ext cx="5429250" cy="157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45000"/>
              </a:lnSpc>
              <a:buSzPct val="100000"/>
              <a:buChar char="•"/>
            </a:pPr>
            <a:r>
              <a:rPr lang="en-US" sz="1425" dirty="0">
                <a:solidFill>
                  <a:srgbClr val="F5E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 / sweating — 33.3%</a:t>
            </a:r>
            <a:endParaRPr lang="en-US" sz="1425" dirty="0"/>
          </a:p>
          <a:p>
            <a:pPr marL="342900" indent="-342900" algn="l">
              <a:lnSpc>
                <a:spcPct val="145000"/>
              </a:lnSpc>
              <a:buSzPct val="100000"/>
              <a:buChar char="•"/>
            </a:pPr>
            <a:r>
              <a:rPr lang="en-US" sz="1425" dirty="0">
                <a:solidFill>
                  <a:srgbClr val="F5E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Discomfort — 27.8%</a:t>
            </a:r>
            <a:endParaRPr lang="en-US" sz="1425" dirty="0"/>
          </a:p>
          <a:p>
            <a:pPr marL="342900" indent="-342900" algn="l">
              <a:lnSpc>
                <a:spcPct val="145000"/>
              </a:lnSpc>
              <a:buSzPct val="100000"/>
              <a:buChar char="•"/>
            </a:pPr>
            <a:r>
              <a:rPr lang="en-US" sz="1425" dirty="0">
                <a:solidFill>
                  <a:srgbClr val="F5E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Delayed emergency assistance</a:t>
            </a:r>
            <a:endParaRPr lang="en-US" sz="1425" dirty="0"/>
          </a:p>
          <a:p>
            <a:pPr marL="342900" indent="-342900" algn="l">
              <a:lnSpc>
                <a:spcPct val="145000"/>
              </a:lnSpc>
              <a:buSzPct val="100000"/>
              <a:buChar char="•"/>
            </a:pPr>
            <a:r>
              <a:rPr lang="en-US" sz="1425" dirty="0">
                <a:solidFill>
                  <a:srgbClr val="F5E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Difficulty seeing blind spots</a:t>
            </a:r>
            <a:endParaRPr lang="en-US" sz="1425" dirty="0"/>
          </a:p>
          <a:p>
            <a:pPr marL="342900" indent="-342900" algn="l">
              <a:lnSpc>
                <a:spcPct val="145000"/>
              </a:lnSpc>
              <a:buSzPct val="100000"/>
              <a:buChar char="•"/>
            </a:pPr>
            <a:r>
              <a:rPr lang="en-US" sz="1425" dirty="0">
                <a:solidFill>
                  <a:srgbClr val="F5E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automatic accident detection</a:t>
            </a:r>
            <a:endParaRPr lang="en-US" sz="1425" dirty="0"/>
          </a:p>
          <a:p>
            <a:pPr marL="342900" indent="-342900" algn="l">
              <a:lnSpc>
                <a:spcPct val="145000"/>
              </a:lnSpc>
              <a:buSzPct val="100000"/>
              <a:buChar char="•"/>
            </a:pPr>
            <a:r>
              <a:rPr lang="en-US" sz="1425" dirty="0">
                <a:solidFill>
                  <a:srgbClr val="F5E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Inconsistent helmet use</a:t>
            </a:r>
            <a:endParaRPr lang="en-US" sz="1425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7096125"/>
            <a:ext cx="5905500" cy="280987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143750" y="7286625"/>
            <a:ext cx="47625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EC4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✔  GAIN POINTS</a:t>
            </a:r>
            <a:endParaRPr lang="en-US" sz="1800" dirty="0"/>
          </a:p>
        </p:txBody>
      </p:sp>
      <p:sp>
        <p:nvSpPr>
          <p:cNvPr id="23" name="Text 14"/>
          <p:cNvSpPr/>
          <p:nvPr/>
        </p:nvSpPr>
        <p:spPr>
          <a:xfrm>
            <a:off x="7143750" y="7696200"/>
            <a:ext cx="5429250" cy="1571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45000"/>
              </a:lnSpc>
              <a:buSzPct val="100000"/>
              <a:buChar char="•"/>
            </a:pPr>
            <a:r>
              <a:rPr lang="en-US" sz="1425" dirty="0">
                <a:solidFill>
                  <a:srgbClr val="E3F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Emergency alerts — 70.5%</a:t>
            </a:r>
            <a:endParaRPr lang="en-US" sz="1425" dirty="0"/>
          </a:p>
          <a:p>
            <a:pPr marL="342900" indent="-342900" algn="l">
              <a:lnSpc>
                <a:spcPct val="145000"/>
              </a:lnSpc>
              <a:buSzPct val="100000"/>
              <a:buChar char="•"/>
            </a:pPr>
            <a:r>
              <a:rPr lang="en-US" sz="1425" dirty="0">
                <a:solidFill>
                  <a:srgbClr val="E3F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Blind-spot assistance — 70.5%</a:t>
            </a:r>
            <a:endParaRPr lang="en-US" sz="1425" dirty="0"/>
          </a:p>
          <a:p>
            <a:pPr marL="342900" indent="-342900" algn="l">
              <a:lnSpc>
                <a:spcPct val="145000"/>
              </a:lnSpc>
              <a:buSzPct val="100000"/>
              <a:buChar char="•"/>
            </a:pPr>
            <a:r>
              <a:rPr lang="en-US" sz="1425" dirty="0">
                <a:solidFill>
                  <a:srgbClr val="E3F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Accident detection — 58.9%</a:t>
            </a:r>
            <a:endParaRPr lang="en-US" sz="1425" dirty="0"/>
          </a:p>
          <a:p>
            <a:pPr marL="342900" indent="-342900" algn="l">
              <a:lnSpc>
                <a:spcPct val="145000"/>
              </a:lnSpc>
              <a:buSzPct val="100000"/>
              <a:buChar char="•"/>
            </a:pPr>
            <a:r>
              <a:rPr lang="en-US" sz="1425" dirty="0">
                <a:solidFill>
                  <a:srgbClr val="E3F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GPS location sharing</a:t>
            </a:r>
            <a:endParaRPr lang="en-US" sz="1425" dirty="0"/>
          </a:p>
          <a:p>
            <a:pPr marL="342900" indent="-342900" algn="l">
              <a:lnSpc>
                <a:spcPct val="145000"/>
              </a:lnSpc>
              <a:buSzPct val="100000"/>
              <a:buChar char="•"/>
            </a:pPr>
            <a:r>
              <a:rPr lang="en-US" sz="1425" dirty="0">
                <a:solidFill>
                  <a:srgbClr val="E3F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impact protection — 40%</a:t>
            </a:r>
            <a:endParaRPr lang="en-US" sz="1425" dirty="0"/>
          </a:p>
          <a:p>
            <a:pPr marL="342900" indent="-342900" algn="l">
              <a:lnSpc>
                <a:spcPct val="145000"/>
              </a:lnSpc>
              <a:buSzPct val="100000"/>
              <a:buChar char="•"/>
            </a:pPr>
            <a:r>
              <a:rPr lang="en-US" sz="1425" dirty="0">
                <a:solidFill>
                  <a:srgbClr val="E3F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Comfortable, affordable helmet — 73.7% willing</a:t>
            </a:r>
            <a:endParaRPr lang="en-US" sz="1425" dirty="0"/>
          </a:p>
        </p:txBody>
      </p:sp>
      <p:sp>
        <p:nvSpPr>
          <p:cNvPr id="24" name="Text 15"/>
          <p:cNvSpPr/>
          <p:nvPr/>
        </p:nvSpPr>
        <p:spPr>
          <a:xfrm>
            <a:off x="13144500" y="1666875"/>
            <a:ext cx="43815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8FA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SURVEY EVIDENCE</a:t>
            </a:r>
            <a:endParaRPr lang="en-US" sz="20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44500" y="2095500"/>
            <a:ext cx="4381500" cy="2381250"/>
          </a:xfrm>
          <a:prstGeom prst="rect">
            <a:avLst/>
          </a:prstGeom>
        </p:spPr>
      </p:pic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430250" y="2524125"/>
            <a:ext cx="1524000" cy="15240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15192375" y="2714625"/>
            <a:ext cx="219075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E639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33.3%</a:t>
            </a:r>
            <a:endParaRPr lang="en-US" sz="4500" dirty="0"/>
          </a:p>
        </p:txBody>
      </p:sp>
      <p:sp>
        <p:nvSpPr>
          <p:cNvPr id="28" name="Text 17"/>
          <p:cNvSpPr/>
          <p:nvPr/>
        </p:nvSpPr>
        <p:spPr>
          <a:xfrm>
            <a:off x="15192375" y="3448050"/>
            <a:ext cx="219075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heat / sweating</a:t>
            </a:r>
            <a:endParaRPr lang="en-US" sz="150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44500" y="4714875"/>
            <a:ext cx="4381500" cy="2381250"/>
          </a:xfrm>
          <a:prstGeom prst="rect">
            <a:avLst/>
          </a:prstGeom>
        </p:spPr>
      </p:pic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430250" y="5143500"/>
            <a:ext cx="1524000" cy="152400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15192375" y="5334000"/>
            <a:ext cx="219075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FF6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73.5%</a:t>
            </a:r>
            <a:endParaRPr lang="en-US" sz="4500" dirty="0"/>
          </a:p>
        </p:txBody>
      </p:sp>
      <p:sp>
        <p:nvSpPr>
          <p:cNvPr id="32" name="Text 19"/>
          <p:cNvSpPr/>
          <p:nvPr/>
        </p:nvSpPr>
        <p:spPr>
          <a:xfrm>
            <a:off x="15192375" y="6067425"/>
            <a:ext cx="219075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emergency alerts</a:t>
            </a:r>
            <a:endParaRPr lang="en-US" sz="150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144500" y="7334250"/>
            <a:ext cx="4381500" cy="2571750"/>
          </a:xfrm>
          <a:prstGeom prst="rect">
            <a:avLst/>
          </a:prstGeom>
        </p:spPr>
      </p:pic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430250" y="7858125"/>
            <a:ext cx="1524000" cy="1524000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15192375" y="8048625"/>
            <a:ext cx="219075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14897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70.7%</a:t>
            </a:r>
            <a:endParaRPr lang="en-US" sz="4500" dirty="0"/>
          </a:p>
        </p:txBody>
      </p:sp>
      <p:sp>
        <p:nvSpPr>
          <p:cNvPr id="36" name="Text 21"/>
          <p:cNvSpPr/>
          <p:nvPr/>
        </p:nvSpPr>
        <p:spPr>
          <a:xfrm>
            <a:off x="15192375" y="8782050"/>
            <a:ext cx="219075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willing to use if comfortable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85725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62000" y="685800"/>
            <a:ext cx="16764000" cy="542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Why Analysis — Why Is a Conventional Helmet Not Enough?</a:t>
            </a:r>
            <a:endParaRPr lang="en-US" sz="3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619250"/>
            <a:ext cx="16764000" cy="76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838325"/>
            <a:ext cx="1600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PROBLEM:  Riders can remain vulnerable even when wearing a conventional helmet.</a:t>
            </a:r>
            <a:endParaRPr lang="en-US" sz="2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857500"/>
            <a:ext cx="2971800" cy="381000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0050" y="3238500"/>
            <a:ext cx="2971800" cy="3810000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100" y="3619500"/>
            <a:ext cx="2971800" cy="3810000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6150" y="3238500"/>
            <a:ext cx="2971800" cy="3810000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54200" y="2857500"/>
            <a:ext cx="2971800" cy="3810000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1900" y="4895850"/>
            <a:ext cx="400050" cy="152400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9950" y="5276850"/>
            <a:ext cx="400050" cy="152400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0" y="5276850"/>
            <a:ext cx="400050" cy="152400"/>
          </a:xfrm>
          <a:prstGeom prst="rect">
            <a:avLst/>
          </a:prstGeom>
        </p:spPr>
      </p:pic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16050" y="4895850"/>
            <a:ext cx="400050" cy="152400"/>
          </a:xfrm>
          <a:prstGeom prst="rect">
            <a:avLst/>
          </a:prstGeom>
        </p:spPr>
      </p:pic>
      <p:sp>
        <p:nvSpPr>
          <p:cNvPr id="15" name="Text 3"/>
          <p:cNvSpPr/>
          <p:nvPr/>
        </p:nvSpPr>
        <p:spPr>
          <a:xfrm>
            <a:off x="1000125" y="3343275"/>
            <a:ext cx="2495550" cy="167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00" dirty="0">
                <a:solidFill>
                  <a:srgbClr val="E6E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1</a:t>
            </a:r>
            <a:endParaRPr lang="en-US" sz="17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700" dirty="0">
                <a:solidFill>
                  <a:srgbClr val="E6E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are riders still vulnerable?</a:t>
            </a:r>
            <a:endParaRPr lang="en-US" sz="17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700" dirty="0">
                <a:solidFill>
                  <a:srgbClr val="E6E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A conventional helmet only reduces head injury during impact.</a:t>
            </a:r>
            <a:endParaRPr lang="en-US" sz="1700" dirty="0"/>
          </a:p>
        </p:txBody>
      </p:sp>
      <p:sp>
        <p:nvSpPr>
          <p:cNvPr id="16" name="Text 4"/>
          <p:cNvSpPr/>
          <p:nvPr/>
        </p:nvSpPr>
        <p:spPr>
          <a:xfrm>
            <a:off x="4448175" y="3694723"/>
            <a:ext cx="2495550" cy="167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00" dirty="0">
                <a:solidFill>
                  <a:srgbClr val="E6E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2</a:t>
            </a:r>
            <a:endParaRPr lang="en-US" sz="17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700" dirty="0">
                <a:solidFill>
                  <a:srgbClr val="E6E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is impact protection not enough?</a:t>
            </a:r>
            <a:endParaRPr lang="en-US" sz="17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700" dirty="0">
                <a:solidFill>
                  <a:srgbClr val="E6E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It can't prevent risks like blind spots or help after a crash.</a:t>
            </a:r>
            <a:endParaRPr lang="en-US" sz="1700" dirty="0"/>
          </a:p>
        </p:txBody>
      </p:sp>
      <p:sp>
        <p:nvSpPr>
          <p:cNvPr id="17" name="Text 5"/>
          <p:cNvSpPr/>
          <p:nvPr/>
        </p:nvSpPr>
        <p:spPr>
          <a:xfrm>
            <a:off x="7934325" y="4400550"/>
            <a:ext cx="2495550" cy="1400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00" dirty="0">
                <a:solidFill>
                  <a:srgbClr val="E6E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3</a:t>
            </a:r>
            <a:endParaRPr lang="en-US" sz="17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700" dirty="0">
                <a:solidFill>
                  <a:srgbClr val="E6E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help come late?</a:t>
            </a:r>
            <a:endParaRPr lang="en-US" sz="17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700" dirty="0">
                <a:solidFill>
                  <a:srgbClr val="E6E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No one is notified if the rider is injured or unconscious.</a:t>
            </a:r>
            <a:endParaRPr lang="en-US" sz="1700" dirty="0"/>
          </a:p>
        </p:txBody>
      </p:sp>
      <p:sp>
        <p:nvSpPr>
          <p:cNvPr id="18" name="Text 6"/>
          <p:cNvSpPr/>
          <p:nvPr/>
        </p:nvSpPr>
        <p:spPr>
          <a:xfrm>
            <a:off x="11344275" y="3974367"/>
            <a:ext cx="2495550" cy="1400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00" dirty="0">
                <a:solidFill>
                  <a:srgbClr val="E6E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4</a:t>
            </a:r>
            <a:endParaRPr lang="en-US" sz="17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700" dirty="0">
                <a:solidFill>
                  <a:srgbClr val="E6E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is no one notified?</a:t>
            </a:r>
            <a:endParaRPr lang="en-US" sz="17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700" dirty="0">
                <a:solidFill>
                  <a:srgbClr val="E6E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The helmet cannot detect an accident or share location.</a:t>
            </a:r>
            <a:endParaRPr lang="en-US" sz="1700" dirty="0"/>
          </a:p>
        </p:txBody>
      </p:sp>
      <p:sp>
        <p:nvSpPr>
          <p:cNvPr id="19" name="Text 7"/>
          <p:cNvSpPr/>
          <p:nvPr/>
        </p:nvSpPr>
        <p:spPr>
          <a:xfrm>
            <a:off x="14830425" y="3533775"/>
            <a:ext cx="2495550" cy="167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5</a:t>
            </a:r>
            <a:endParaRPr lang="en-US" sz="17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can't it detect anything?</a:t>
            </a:r>
            <a:endParaRPr lang="en-US" sz="17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It is purely passive — no sensors, alerts, or GPS built in.</a:t>
            </a:r>
            <a:endParaRPr lang="en-US" sz="1700" dirty="0"/>
          </a:p>
        </p:txBody>
      </p:sp>
      <p:pic>
        <p:nvPicPr>
          <p:cNvPr id="20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6953250"/>
            <a:ext cx="2971800" cy="1047750"/>
          </a:xfrm>
          <a:prstGeom prst="rect">
            <a:avLst/>
          </a:prstGeom>
        </p:spPr>
      </p:pic>
      <p:sp>
        <p:nvSpPr>
          <p:cNvPr id="21" name="Text 8"/>
          <p:cNvSpPr/>
          <p:nvPr/>
        </p:nvSpPr>
        <p:spPr>
          <a:xfrm>
            <a:off x="952500" y="7067550"/>
            <a:ext cx="2667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0F1F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64.7%</a:t>
            </a:r>
            <a:endParaRPr lang="en-US" sz="3300" dirty="0"/>
          </a:p>
        </p:txBody>
      </p:sp>
      <p:sp>
        <p:nvSpPr>
          <p:cNvPr id="22" name="Text 9"/>
          <p:cNvSpPr/>
          <p:nvPr/>
        </p:nvSpPr>
        <p:spPr>
          <a:xfrm>
            <a:off x="952500" y="7600950"/>
            <a:ext cx="266700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feel partially/completely safe</a:t>
            </a:r>
            <a:endParaRPr lang="en-US" sz="1350" dirty="0"/>
          </a:p>
        </p:txBody>
      </p:sp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0050" y="7334250"/>
            <a:ext cx="2971800" cy="1047750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4400550" y="7448550"/>
            <a:ext cx="2667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E639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35.3%</a:t>
            </a:r>
            <a:endParaRPr lang="en-US" sz="3300" dirty="0"/>
          </a:p>
        </p:txBody>
      </p:sp>
      <p:sp>
        <p:nvSpPr>
          <p:cNvPr id="25" name="Text 11"/>
          <p:cNvSpPr/>
          <p:nvPr/>
        </p:nvSpPr>
        <p:spPr>
          <a:xfrm>
            <a:off x="4400550" y="7981950"/>
            <a:ext cx="266700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unsure about helmet safety</a:t>
            </a:r>
            <a:endParaRPr lang="en-US" sz="1350" dirty="0"/>
          </a:p>
        </p:txBody>
      </p:sp>
      <p:pic>
        <p:nvPicPr>
          <p:cNvPr id="26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06150" y="7334250"/>
            <a:ext cx="2971800" cy="1047750"/>
          </a:xfrm>
          <a:prstGeom prst="rect">
            <a:avLst/>
          </a:prstGeom>
        </p:spPr>
      </p:pic>
      <p:sp>
        <p:nvSpPr>
          <p:cNvPr id="27" name="Text 12"/>
          <p:cNvSpPr/>
          <p:nvPr/>
        </p:nvSpPr>
        <p:spPr>
          <a:xfrm>
            <a:off x="11296650" y="7448550"/>
            <a:ext cx="2667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6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70.5%</a:t>
            </a:r>
            <a:endParaRPr lang="en-US" sz="3300" dirty="0"/>
          </a:p>
        </p:txBody>
      </p:sp>
      <p:sp>
        <p:nvSpPr>
          <p:cNvPr id="28" name="Text 13"/>
          <p:cNvSpPr/>
          <p:nvPr/>
        </p:nvSpPr>
        <p:spPr>
          <a:xfrm>
            <a:off x="11296650" y="7981950"/>
            <a:ext cx="266700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emergency alerts useful</a:t>
            </a:r>
            <a:endParaRPr lang="en-US" sz="1350" dirty="0"/>
          </a:p>
        </p:txBody>
      </p:sp>
      <p:pic>
        <p:nvPicPr>
          <p:cNvPr id="29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54200" y="6953250"/>
            <a:ext cx="2971800" cy="1047750"/>
          </a:xfrm>
          <a:prstGeom prst="rect">
            <a:avLst/>
          </a:prstGeom>
        </p:spPr>
      </p:pic>
      <p:sp>
        <p:nvSpPr>
          <p:cNvPr id="30" name="Text 14"/>
          <p:cNvSpPr/>
          <p:nvPr/>
        </p:nvSpPr>
        <p:spPr>
          <a:xfrm>
            <a:off x="14744700" y="7067550"/>
            <a:ext cx="2667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6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70.5%</a:t>
            </a:r>
            <a:endParaRPr lang="en-US" sz="3300" dirty="0"/>
          </a:p>
        </p:txBody>
      </p:sp>
      <p:sp>
        <p:nvSpPr>
          <p:cNvPr id="31" name="Text 15"/>
          <p:cNvSpPr/>
          <p:nvPr/>
        </p:nvSpPr>
        <p:spPr>
          <a:xfrm>
            <a:off x="14744700" y="7600950"/>
            <a:ext cx="266700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blind-spot assistance</a:t>
            </a:r>
            <a:endParaRPr lang="en-US" sz="1350" dirty="0"/>
          </a:p>
        </p:txBody>
      </p:sp>
      <p:pic>
        <p:nvPicPr>
          <p:cNvPr id="32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8667750"/>
            <a:ext cx="16764000" cy="1238250"/>
          </a:xfrm>
          <a:prstGeom prst="rect">
            <a:avLst/>
          </a:prstGeom>
        </p:spPr>
      </p:pic>
      <p:sp>
        <p:nvSpPr>
          <p:cNvPr id="33" name="Text 16"/>
          <p:cNvSpPr/>
          <p:nvPr/>
        </p:nvSpPr>
        <p:spPr>
          <a:xfrm>
            <a:off x="1143000" y="8839200"/>
            <a:ext cx="28575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ROOT CAUSE</a:t>
            </a:r>
            <a:endParaRPr lang="en-US" sz="2850" dirty="0"/>
          </a:p>
        </p:txBody>
      </p:sp>
      <p:sp>
        <p:nvSpPr>
          <p:cNvPr id="34" name="Text 17"/>
          <p:cNvSpPr/>
          <p:nvPr/>
        </p:nvSpPr>
        <p:spPr>
          <a:xfrm>
            <a:off x="4191000" y="8877300"/>
            <a:ext cx="1304925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helmets provide only passive protection and lack active safety systems for accident detection, emergency alerts, and blind-spot awareness.</a:t>
            </a:r>
            <a:endParaRPr lang="en-US" sz="1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1">
            <a:extLst>
              <a:ext uri="{FF2B5EF4-FFF2-40B4-BE49-F238E27FC236}">
                <a16:creationId xmlns:a16="http://schemas.microsoft.com/office/drawing/2014/main" id="{AF682AAB-CAE8-A54E-0B50-6C3A8DD12301}"/>
              </a:ext>
            </a:extLst>
          </p:cNvPr>
          <p:cNvSpPr/>
          <p:nvPr/>
        </p:nvSpPr>
        <p:spPr>
          <a:xfrm>
            <a:off x="762000" y="219075"/>
            <a:ext cx="12382500" cy="12573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SWOT ANALYSIS — TRADITIONAL HELMET</a:t>
            </a:r>
            <a:endParaRPr lang="en-US" sz="4000" dirty="0"/>
          </a:p>
        </p:txBody>
      </p:sp>
      <p:pic>
        <p:nvPicPr>
          <p:cNvPr id="27" name="Image 0">
            <a:extLst>
              <a:ext uri="{FF2B5EF4-FFF2-40B4-BE49-F238E27FC236}">
                <a16:creationId xmlns:a16="http://schemas.microsoft.com/office/drawing/2014/main" id="{F6018ACC-AB9E-A6C2-7FD5-B40182C7F3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695450"/>
            <a:ext cx="8286750" cy="4000500"/>
          </a:xfrm>
          <a:prstGeom prst="rect">
            <a:avLst/>
          </a:prstGeom>
        </p:spPr>
      </p:pic>
      <p:pic>
        <p:nvPicPr>
          <p:cNvPr id="28" name="Image 1">
            <a:extLst>
              <a:ext uri="{FF2B5EF4-FFF2-40B4-BE49-F238E27FC236}">
                <a16:creationId xmlns:a16="http://schemas.microsoft.com/office/drawing/2014/main" id="{5C81D3AE-387D-6BB0-C2DA-D0423C61D8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0" y="1695450"/>
            <a:ext cx="8286750" cy="4000500"/>
          </a:xfrm>
          <a:prstGeom prst="rect">
            <a:avLst/>
          </a:prstGeom>
        </p:spPr>
      </p:pic>
      <p:pic>
        <p:nvPicPr>
          <p:cNvPr id="29" name="Image 2">
            <a:extLst>
              <a:ext uri="{FF2B5EF4-FFF2-40B4-BE49-F238E27FC236}">
                <a16:creationId xmlns:a16="http://schemas.microsoft.com/office/drawing/2014/main" id="{864428F1-0C5F-C1A9-C59A-ADC41FD244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5886450"/>
            <a:ext cx="8286750" cy="4000500"/>
          </a:xfrm>
          <a:prstGeom prst="rect">
            <a:avLst/>
          </a:prstGeom>
        </p:spPr>
      </p:pic>
      <p:pic>
        <p:nvPicPr>
          <p:cNvPr id="30" name="Image 3">
            <a:extLst>
              <a:ext uri="{FF2B5EF4-FFF2-40B4-BE49-F238E27FC236}">
                <a16:creationId xmlns:a16="http://schemas.microsoft.com/office/drawing/2014/main" id="{63090202-EEF8-517E-C726-ABE659D6FD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9250" y="5886450"/>
            <a:ext cx="8286750" cy="4000500"/>
          </a:xfrm>
          <a:prstGeom prst="rect">
            <a:avLst/>
          </a:prstGeom>
        </p:spPr>
      </p:pic>
      <p:pic>
        <p:nvPicPr>
          <p:cNvPr id="31" name="Image 4">
            <a:extLst>
              <a:ext uri="{FF2B5EF4-FFF2-40B4-BE49-F238E27FC236}">
                <a16:creationId xmlns:a16="http://schemas.microsoft.com/office/drawing/2014/main" id="{BEF94A98-5EF1-457E-16AE-DFDCA508E8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" y="1962150"/>
            <a:ext cx="609600" cy="609600"/>
          </a:xfrm>
          <a:prstGeom prst="rect">
            <a:avLst/>
          </a:prstGeom>
        </p:spPr>
      </p:pic>
      <p:pic>
        <p:nvPicPr>
          <p:cNvPr id="32" name="Image 5">
            <a:extLst>
              <a:ext uri="{FF2B5EF4-FFF2-40B4-BE49-F238E27FC236}">
                <a16:creationId xmlns:a16="http://schemas.microsoft.com/office/drawing/2014/main" id="{345FC8D0-B177-2D2F-2807-256CA08E10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44050" y="1962150"/>
            <a:ext cx="609600" cy="609600"/>
          </a:xfrm>
          <a:prstGeom prst="rect">
            <a:avLst/>
          </a:prstGeom>
        </p:spPr>
      </p:pic>
      <p:pic>
        <p:nvPicPr>
          <p:cNvPr id="33" name="Image 6">
            <a:extLst>
              <a:ext uri="{FF2B5EF4-FFF2-40B4-BE49-F238E27FC236}">
                <a16:creationId xmlns:a16="http://schemas.microsoft.com/office/drawing/2014/main" id="{6B9FEC2E-235B-846A-B017-C12E44C3B21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800" y="6153150"/>
            <a:ext cx="609600" cy="609600"/>
          </a:xfrm>
          <a:prstGeom prst="rect">
            <a:avLst/>
          </a:prstGeom>
        </p:spPr>
      </p:pic>
      <p:pic>
        <p:nvPicPr>
          <p:cNvPr id="34" name="Image 7">
            <a:extLst>
              <a:ext uri="{FF2B5EF4-FFF2-40B4-BE49-F238E27FC236}">
                <a16:creationId xmlns:a16="http://schemas.microsoft.com/office/drawing/2014/main" id="{82C97858-1127-B2E5-8D8C-E6D0263E2F8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44050" y="6153150"/>
            <a:ext cx="609600" cy="609600"/>
          </a:xfrm>
          <a:prstGeom prst="rect">
            <a:avLst/>
          </a:prstGeom>
        </p:spPr>
      </p:pic>
      <p:pic>
        <p:nvPicPr>
          <p:cNvPr id="35" name="Image 8">
            <a:extLst>
              <a:ext uri="{FF2B5EF4-FFF2-40B4-BE49-F238E27FC236}">
                <a16:creationId xmlns:a16="http://schemas.microsoft.com/office/drawing/2014/main" id="{505F3246-D02E-80E2-7DE3-ED824966C62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00150" y="2114550"/>
            <a:ext cx="342900" cy="304800"/>
          </a:xfrm>
          <a:prstGeom prst="rect">
            <a:avLst/>
          </a:prstGeom>
        </p:spPr>
      </p:pic>
      <p:pic>
        <p:nvPicPr>
          <p:cNvPr id="36" name="Image 9">
            <a:extLst>
              <a:ext uri="{FF2B5EF4-FFF2-40B4-BE49-F238E27FC236}">
                <a16:creationId xmlns:a16="http://schemas.microsoft.com/office/drawing/2014/main" id="{248EE17B-92EA-D20F-EF45-1EF3F6B5D0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677400" y="2095500"/>
            <a:ext cx="342900" cy="323850"/>
          </a:xfrm>
          <a:prstGeom prst="rect">
            <a:avLst/>
          </a:prstGeom>
        </p:spPr>
      </p:pic>
      <p:pic>
        <p:nvPicPr>
          <p:cNvPr id="37" name="Image 10">
            <a:extLst>
              <a:ext uri="{FF2B5EF4-FFF2-40B4-BE49-F238E27FC236}">
                <a16:creationId xmlns:a16="http://schemas.microsoft.com/office/drawing/2014/main" id="{E7B8DDDD-4365-2B18-8C87-35817E41EAC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00150" y="6286500"/>
            <a:ext cx="342900" cy="342900"/>
          </a:xfrm>
          <a:prstGeom prst="rect">
            <a:avLst/>
          </a:prstGeom>
        </p:spPr>
      </p:pic>
      <p:pic>
        <p:nvPicPr>
          <p:cNvPr id="38" name="Image 11">
            <a:extLst>
              <a:ext uri="{FF2B5EF4-FFF2-40B4-BE49-F238E27FC236}">
                <a16:creationId xmlns:a16="http://schemas.microsoft.com/office/drawing/2014/main" id="{B5F538A6-C7BF-5B01-F8A8-EB6709AF43F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96450" y="6286500"/>
            <a:ext cx="304800" cy="342900"/>
          </a:xfrm>
          <a:prstGeom prst="rect">
            <a:avLst/>
          </a:prstGeom>
        </p:spPr>
      </p:pic>
      <p:sp>
        <p:nvSpPr>
          <p:cNvPr id="39" name="Text 3">
            <a:extLst>
              <a:ext uri="{FF2B5EF4-FFF2-40B4-BE49-F238E27FC236}">
                <a16:creationId xmlns:a16="http://schemas.microsoft.com/office/drawing/2014/main" id="{79587DF4-543D-9931-FF57-C4A375E87C30}"/>
              </a:ext>
            </a:extLst>
          </p:cNvPr>
          <p:cNvSpPr/>
          <p:nvPr/>
        </p:nvSpPr>
        <p:spPr>
          <a:xfrm>
            <a:off x="1866900" y="2076450"/>
            <a:ext cx="4000500" cy="40005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2ECC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STRENGTHS</a:t>
            </a:r>
            <a:endParaRPr lang="en-US" sz="2550" dirty="0"/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7D8A7358-4ED6-6FB5-E426-BAB869D40D6B}"/>
              </a:ext>
            </a:extLst>
          </p:cNvPr>
          <p:cNvSpPr/>
          <p:nvPr/>
        </p:nvSpPr>
        <p:spPr>
          <a:xfrm>
            <a:off x="10344150" y="2076450"/>
            <a:ext cx="4000500" cy="40005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FF6B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WEAKNESSES</a:t>
            </a:r>
            <a:endParaRPr lang="en-US" sz="2550" dirty="0"/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30FC6962-3219-B5E6-8AEB-D048165351E1}"/>
              </a:ext>
            </a:extLst>
          </p:cNvPr>
          <p:cNvSpPr/>
          <p:nvPr/>
        </p:nvSpPr>
        <p:spPr>
          <a:xfrm>
            <a:off x="1866900" y="6267450"/>
            <a:ext cx="4000500" cy="40005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3FA9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OPPORTUNITIES</a:t>
            </a:r>
            <a:endParaRPr lang="en-US" sz="2550" dirty="0"/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C1B0D68C-B6DA-E38C-4373-2BAD6195091D}"/>
              </a:ext>
            </a:extLst>
          </p:cNvPr>
          <p:cNvSpPr/>
          <p:nvPr/>
        </p:nvSpPr>
        <p:spPr>
          <a:xfrm>
            <a:off x="10344150" y="6267450"/>
            <a:ext cx="4000500" cy="40005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F5B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THREATS</a:t>
            </a:r>
            <a:endParaRPr lang="en-US" sz="2550" dirty="0"/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434F5EB9-C698-AE76-87E2-EB05A9444E0F}"/>
              </a:ext>
            </a:extLst>
          </p:cNvPr>
          <p:cNvSpPr/>
          <p:nvPr/>
        </p:nvSpPr>
        <p:spPr>
          <a:xfrm>
            <a:off x="1104900" y="2800350"/>
            <a:ext cx="5334000" cy="20574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EAF1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Reliable basic head protection</a:t>
            </a:r>
            <a:endParaRPr lang="en-US" sz="18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EAF1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Familiar and widely trusted</a:t>
            </a:r>
            <a:endParaRPr lang="en-US" sz="18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EAF1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electronics or charging needed</a:t>
            </a:r>
            <a:endParaRPr lang="en-US" sz="18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EAF1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Simple, durable, low maintenance</a:t>
            </a:r>
            <a:endParaRPr lang="en-US" sz="18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EAF1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Affordable and easy to access</a:t>
            </a:r>
            <a:endParaRPr lang="en-US" sz="18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EAF1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Positive safety perception among riders</a:t>
            </a:r>
            <a:endParaRPr lang="en-US" sz="1800" dirty="0"/>
          </a:p>
        </p:txBody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EBDBE8FD-FB70-7F21-534E-E23189755720}"/>
              </a:ext>
            </a:extLst>
          </p:cNvPr>
          <p:cNvSpPr/>
          <p:nvPr/>
        </p:nvSpPr>
        <p:spPr>
          <a:xfrm>
            <a:off x="9582150" y="2800350"/>
            <a:ext cx="5048250" cy="2143125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40000"/>
              </a:lnSpc>
              <a:buSzPct val="100000"/>
              <a:buChar char="•"/>
            </a:pPr>
            <a:r>
              <a:rPr lang="en-US" sz="1725" dirty="0">
                <a:solidFill>
                  <a:srgbClr val="EAF1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Passive protection only</a:t>
            </a:r>
            <a:endParaRPr lang="en-US" sz="1725" dirty="0"/>
          </a:p>
          <a:p>
            <a:pPr marL="342900" indent="-342900" algn="l">
              <a:lnSpc>
                <a:spcPct val="140000"/>
              </a:lnSpc>
              <a:buSzPct val="100000"/>
              <a:buChar char="•"/>
            </a:pPr>
            <a:r>
              <a:rPr lang="en-US" sz="1725" dirty="0">
                <a:solidFill>
                  <a:srgbClr val="EAF1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accident detection or alerts</a:t>
            </a:r>
            <a:endParaRPr lang="en-US" sz="1725" dirty="0"/>
          </a:p>
          <a:p>
            <a:pPr marL="342900" indent="-342900" algn="l">
              <a:lnSpc>
                <a:spcPct val="140000"/>
              </a:lnSpc>
              <a:buSzPct val="100000"/>
              <a:buChar char="•"/>
            </a:pPr>
            <a:r>
              <a:rPr lang="en-US" sz="1725" dirty="0">
                <a:solidFill>
                  <a:srgbClr val="EAF1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GPS location sharing</a:t>
            </a:r>
            <a:endParaRPr lang="en-US" sz="1725" dirty="0"/>
          </a:p>
          <a:p>
            <a:pPr marL="342900" indent="-342900" algn="l">
              <a:lnSpc>
                <a:spcPct val="140000"/>
              </a:lnSpc>
              <a:buSzPct val="100000"/>
              <a:buChar char="•"/>
            </a:pPr>
            <a:r>
              <a:rPr lang="en-US" sz="1725" dirty="0">
                <a:solidFill>
                  <a:srgbClr val="EAF1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blind-spot assistance</a:t>
            </a:r>
            <a:endParaRPr lang="en-US" sz="1725" dirty="0"/>
          </a:p>
          <a:p>
            <a:pPr marL="342900" indent="-342900" algn="l">
              <a:lnSpc>
                <a:spcPct val="140000"/>
              </a:lnSpc>
              <a:buSzPct val="100000"/>
              <a:buChar char="•"/>
            </a:pPr>
            <a:r>
              <a:rPr lang="en-US" sz="1725" dirty="0">
                <a:solidFill>
                  <a:srgbClr val="EAF1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 build-up and sweating</a:t>
            </a:r>
            <a:endParaRPr lang="en-US" sz="1725" dirty="0"/>
          </a:p>
          <a:p>
            <a:pPr marL="342900" indent="-342900" algn="l">
              <a:lnSpc>
                <a:spcPct val="140000"/>
              </a:lnSpc>
              <a:buSzPct val="100000"/>
              <a:buChar char="•"/>
            </a:pPr>
            <a:r>
              <a:rPr lang="en-US" sz="1725" dirty="0">
                <a:solidFill>
                  <a:srgbClr val="EAF1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Discomfort on longer rides</a:t>
            </a:r>
            <a:endParaRPr lang="en-US" sz="1725" dirty="0"/>
          </a:p>
          <a:p>
            <a:pPr marL="342900" indent="-342900" algn="l">
              <a:lnSpc>
                <a:spcPct val="140000"/>
              </a:lnSpc>
              <a:buSzPct val="100000"/>
              <a:buChar char="•"/>
            </a:pPr>
            <a:r>
              <a:rPr lang="en-US" sz="1725" dirty="0">
                <a:solidFill>
                  <a:srgbClr val="EAF1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ventilation</a:t>
            </a:r>
            <a:endParaRPr lang="en-US" sz="1725" dirty="0"/>
          </a:p>
        </p:txBody>
      </p:sp>
      <p:sp>
        <p:nvSpPr>
          <p:cNvPr id="45" name="Text 9">
            <a:extLst>
              <a:ext uri="{FF2B5EF4-FFF2-40B4-BE49-F238E27FC236}">
                <a16:creationId xmlns:a16="http://schemas.microsoft.com/office/drawing/2014/main" id="{CB37924A-DF9D-246E-ABC7-258F7E83E859}"/>
              </a:ext>
            </a:extLst>
          </p:cNvPr>
          <p:cNvSpPr/>
          <p:nvPr/>
        </p:nvSpPr>
        <p:spPr>
          <a:xfrm>
            <a:off x="1104900" y="6991350"/>
            <a:ext cx="5334000" cy="20574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EAF1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ventilation and airflow</a:t>
            </a:r>
            <a:endParaRPr lang="en-US" sz="18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EAF1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Lighter, more comfortable fit</a:t>
            </a:r>
            <a:endParaRPr lang="en-US" sz="18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EAF1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Stronger impact protection</a:t>
            </a:r>
            <a:endParaRPr lang="en-US" sz="18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EAF1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peripheral awareness</a:t>
            </a:r>
            <a:endParaRPr lang="en-US" sz="18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EAF1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Emergency response features</a:t>
            </a:r>
            <a:endParaRPr lang="en-US" sz="18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EAF1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user acceptance &amp; usage</a:t>
            </a:r>
            <a:endParaRPr lang="en-US" sz="1800" dirty="0"/>
          </a:p>
        </p:txBody>
      </p:sp>
      <p:sp>
        <p:nvSpPr>
          <p:cNvPr id="46" name="Text 10">
            <a:extLst>
              <a:ext uri="{FF2B5EF4-FFF2-40B4-BE49-F238E27FC236}">
                <a16:creationId xmlns:a16="http://schemas.microsoft.com/office/drawing/2014/main" id="{7B92BE36-DB16-FAD5-F361-DD1EBDF4E633}"/>
              </a:ext>
            </a:extLst>
          </p:cNvPr>
          <p:cNvSpPr/>
          <p:nvPr/>
        </p:nvSpPr>
        <p:spPr>
          <a:xfrm>
            <a:off x="9582150" y="6991350"/>
            <a:ext cx="5143500" cy="20574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EAF1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Riders skip helmets due to heat</a:t>
            </a:r>
            <a:endParaRPr lang="en-US" sz="18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EAF1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Discomfort lowers consistent use</a:t>
            </a:r>
            <a:endParaRPr lang="en-US" sz="18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EAF1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Non-use on short-distance trips</a:t>
            </a:r>
            <a:endParaRPr lang="en-US" sz="18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EAF1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Rising expectation of active features</a:t>
            </a:r>
            <a:endParaRPr lang="en-US" sz="18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EAF1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Competition from smart helmet tech</a:t>
            </a:r>
            <a:endParaRPr lang="en-US" sz="18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EAF1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 habits &amp; enforcement gaps</a:t>
            </a:r>
            <a:endParaRPr lang="en-US" sz="1800" dirty="0"/>
          </a:p>
        </p:txBody>
      </p:sp>
      <p:pic>
        <p:nvPicPr>
          <p:cNvPr id="47" name="Image 12">
            <a:extLst>
              <a:ext uri="{FF2B5EF4-FFF2-40B4-BE49-F238E27FC236}">
                <a16:creationId xmlns:a16="http://schemas.microsoft.com/office/drawing/2014/main" id="{B901249F-B7EA-EC79-69F4-EE68CAE7904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67500" y="2362200"/>
            <a:ext cx="1905000" cy="1905000"/>
          </a:xfrm>
          <a:prstGeom prst="rect">
            <a:avLst/>
          </a:prstGeom>
        </p:spPr>
      </p:pic>
      <p:sp>
        <p:nvSpPr>
          <p:cNvPr id="48" name="Text 11">
            <a:extLst>
              <a:ext uri="{FF2B5EF4-FFF2-40B4-BE49-F238E27FC236}">
                <a16:creationId xmlns:a16="http://schemas.microsoft.com/office/drawing/2014/main" id="{942B584F-BA81-763A-0575-E074540BC38D}"/>
              </a:ext>
            </a:extLst>
          </p:cNvPr>
          <p:cNvSpPr/>
          <p:nvPr/>
        </p:nvSpPr>
        <p:spPr>
          <a:xfrm>
            <a:off x="6858000" y="3086100"/>
            <a:ext cx="152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64.7%</a:t>
            </a:r>
            <a:endParaRPr lang="en-US" sz="3000" dirty="0"/>
          </a:p>
        </p:txBody>
      </p:sp>
      <p:sp>
        <p:nvSpPr>
          <p:cNvPr id="49" name="Text 12">
            <a:extLst>
              <a:ext uri="{FF2B5EF4-FFF2-40B4-BE49-F238E27FC236}">
                <a16:creationId xmlns:a16="http://schemas.microsoft.com/office/drawing/2014/main" id="{F2D318FA-B462-43C6-DC5A-15355929DE39}"/>
              </a:ext>
            </a:extLst>
          </p:cNvPr>
          <p:cNvSpPr/>
          <p:nvPr/>
        </p:nvSpPr>
        <p:spPr>
          <a:xfrm>
            <a:off x="6477000" y="4419600"/>
            <a:ext cx="2286000" cy="66675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A9BC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Feel conventional helmets provide complete or partial safety</a:t>
            </a:r>
            <a:endParaRPr lang="en-US" sz="1350" dirty="0"/>
          </a:p>
        </p:txBody>
      </p:sp>
      <p:pic>
        <p:nvPicPr>
          <p:cNvPr id="50" name="Image 13">
            <a:extLst>
              <a:ext uri="{FF2B5EF4-FFF2-40B4-BE49-F238E27FC236}">
                <a16:creationId xmlns:a16="http://schemas.microsoft.com/office/drawing/2014/main" id="{0495BE49-9D6B-3BD7-8BE0-538B5D8FB5B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049500" y="2190750"/>
            <a:ext cx="1333500" cy="1333500"/>
          </a:xfrm>
          <a:prstGeom prst="rect">
            <a:avLst/>
          </a:prstGeom>
        </p:spPr>
      </p:pic>
      <p:sp>
        <p:nvSpPr>
          <p:cNvPr id="51" name="Text 13">
            <a:extLst>
              <a:ext uri="{FF2B5EF4-FFF2-40B4-BE49-F238E27FC236}">
                <a16:creationId xmlns:a16="http://schemas.microsoft.com/office/drawing/2014/main" id="{F28F374F-3A22-B3AC-DF35-67DB5C955B19}"/>
              </a:ext>
            </a:extLst>
          </p:cNvPr>
          <p:cNvSpPr/>
          <p:nvPr/>
        </p:nvSpPr>
        <p:spPr>
          <a:xfrm>
            <a:off x="15144750" y="2686050"/>
            <a:ext cx="1143000" cy="3429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33.3%</a:t>
            </a:r>
            <a:endParaRPr lang="en-US" sz="2100" dirty="0"/>
          </a:p>
        </p:txBody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7F460859-630F-4611-A223-7AD91191178F}"/>
              </a:ext>
            </a:extLst>
          </p:cNvPr>
          <p:cNvSpPr/>
          <p:nvPr/>
        </p:nvSpPr>
        <p:spPr>
          <a:xfrm>
            <a:off x="16478250" y="2667000"/>
            <a:ext cx="952500" cy="36195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A9BC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 / sweating</a:t>
            </a:r>
            <a:endParaRPr lang="en-US" sz="1200" dirty="0"/>
          </a:p>
        </p:txBody>
      </p:sp>
      <p:pic>
        <p:nvPicPr>
          <p:cNvPr id="53" name="Image 14">
            <a:extLst>
              <a:ext uri="{FF2B5EF4-FFF2-40B4-BE49-F238E27FC236}">
                <a16:creationId xmlns:a16="http://schemas.microsoft.com/office/drawing/2014/main" id="{9967A9C9-8DEE-E644-3871-DDABF9F5C6C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049500" y="3886200"/>
            <a:ext cx="1333500" cy="1333500"/>
          </a:xfrm>
          <a:prstGeom prst="rect">
            <a:avLst/>
          </a:prstGeom>
        </p:spPr>
      </p:pic>
      <p:sp>
        <p:nvSpPr>
          <p:cNvPr id="54" name="Text 15">
            <a:extLst>
              <a:ext uri="{FF2B5EF4-FFF2-40B4-BE49-F238E27FC236}">
                <a16:creationId xmlns:a16="http://schemas.microsoft.com/office/drawing/2014/main" id="{9F575164-4DF4-0AE0-DA25-E25837FA2BB8}"/>
              </a:ext>
            </a:extLst>
          </p:cNvPr>
          <p:cNvSpPr/>
          <p:nvPr/>
        </p:nvSpPr>
        <p:spPr>
          <a:xfrm>
            <a:off x="15144750" y="4381500"/>
            <a:ext cx="1143000" cy="3429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27.8%</a:t>
            </a:r>
            <a:endParaRPr lang="en-US" sz="2100" dirty="0"/>
          </a:p>
        </p:txBody>
      </p:sp>
      <p:sp>
        <p:nvSpPr>
          <p:cNvPr id="55" name="Text 16">
            <a:extLst>
              <a:ext uri="{FF2B5EF4-FFF2-40B4-BE49-F238E27FC236}">
                <a16:creationId xmlns:a16="http://schemas.microsoft.com/office/drawing/2014/main" id="{71CF1FFE-DAE8-68C3-8979-44EF94879E86}"/>
              </a:ext>
            </a:extLst>
          </p:cNvPr>
          <p:cNvSpPr/>
          <p:nvPr/>
        </p:nvSpPr>
        <p:spPr>
          <a:xfrm>
            <a:off x="16478250" y="4438650"/>
            <a:ext cx="952500" cy="180975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A9BC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Discomfort</a:t>
            </a:r>
            <a:endParaRPr lang="en-US" sz="1200" dirty="0"/>
          </a:p>
        </p:txBody>
      </p:sp>
      <p:pic>
        <p:nvPicPr>
          <p:cNvPr id="56" name="Image 15">
            <a:extLst>
              <a:ext uri="{FF2B5EF4-FFF2-40B4-BE49-F238E27FC236}">
                <a16:creationId xmlns:a16="http://schemas.microsoft.com/office/drawing/2014/main" id="{7A97479F-77B8-6A9C-60F3-401DE7B7873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77000" y="6457950"/>
            <a:ext cx="2286000" cy="3048000"/>
          </a:xfrm>
          <a:prstGeom prst="rect">
            <a:avLst/>
          </a:prstGeom>
        </p:spPr>
      </p:pic>
      <p:pic>
        <p:nvPicPr>
          <p:cNvPr id="57" name="Image 16">
            <a:extLst>
              <a:ext uri="{FF2B5EF4-FFF2-40B4-BE49-F238E27FC236}">
                <a16:creationId xmlns:a16="http://schemas.microsoft.com/office/drawing/2014/main" id="{BCBD2DCC-B867-1500-B7F0-9212A2E80E4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58000" y="6705600"/>
            <a:ext cx="1524000" cy="1524000"/>
          </a:xfrm>
          <a:prstGeom prst="rect">
            <a:avLst/>
          </a:prstGeom>
        </p:spPr>
      </p:pic>
      <p:sp>
        <p:nvSpPr>
          <p:cNvPr id="58" name="Text 17">
            <a:extLst>
              <a:ext uri="{FF2B5EF4-FFF2-40B4-BE49-F238E27FC236}">
                <a16:creationId xmlns:a16="http://schemas.microsoft.com/office/drawing/2014/main" id="{FF982BBA-A77E-E973-8C79-F37BD5DC4965}"/>
              </a:ext>
            </a:extLst>
          </p:cNvPr>
          <p:cNvSpPr/>
          <p:nvPr/>
        </p:nvSpPr>
        <p:spPr>
          <a:xfrm>
            <a:off x="7048500" y="7258050"/>
            <a:ext cx="1143000" cy="4191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40%</a:t>
            </a:r>
            <a:endParaRPr lang="en-US" sz="2700" dirty="0"/>
          </a:p>
        </p:txBody>
      </p:sp>
      <p:sp>
        <p:nvSpPr>
          <p:cNvPr id="59" name="Text 18">
            <a:extLst>
              <a:ext uri="{FF2B5EF4-FFF2-40B4-BE49-F238E27FC236}">
                <a16:creationId xmlns:a16="http://schemas.microsoft.com/office/drawing/2014/main" id="{CABD229F-1B5B-8C05-4E63-10A511E86C8B}"/>
              </a:ext>
            </a:extLst>
          </p:cNvPr>
          <p:cNvSpPr/>
          <p:nvPr/>
        </p:nvSpPr>
        <p:spPr>
          <a:xfrm>
            <a:off x="6629400" y="8382000"/>
            <a:ext cx="1981200" cy="66675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3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Chose better impact protection as the top improvement wanted</a:t>
            </a:r>
            <a:endParaRPr lang="en-US" sz="1350" dirty="0"/>
          </a:p>
        </p:txBody>
      </p:sp>
      <p:pic>
        <p:nvPicPr>
          <p:cNvPr id="60" name="Image 17">
            <a:extLst>
              <a:ext uri="{FF2B5EF4-FFF2-40B4-BE49-F238E27FC236}">
                <a16:creationId xmlns:a16="http://schemas.microsoft.com/office/drawing/2014/main" id="{441402C5-5C7B-7B37-627D-74211920BC5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5049500" y="6381750"/>
            <a:ext cx="1333500" cy="1333500"/>
          </a:xfrm>
          <a:prstGeom prst="rect">
            <a:avLst/>
          </a:prstGeom>
        </p:spPr>
      </p:pic>
      <p:sp>
        <p:nvSpPr>
          <p:cNvPr id="61" name="Text 19">
            <a:extLst>
              <a:ext uri="{FF2B5EF4-FFF2-40B4-BE49-F238E27FC236}">
                <a16:creationId xmlns:a16="http://schemas.microsoft.com/office/drawing/2014/main" id="{B40EA1E3-5E41-B2E7-80B8-471AE2630B58}"/>
              </a:ext>
            </a:extLst>
          </p:cNvPr>
          <p:cNvSpPr/>
          <p:nvPr/>
        </p:nvSpPr>
        <p:spPr>
          <a:xfrm>
            <a:off x="15144750" y="6877050"/>
            <a:ext cx="1143000" cy="3429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55.5%</a:t>
            </a:r>
            <a:endParaRPr lang="en-US" sz="2100" dirty="0"/>
          </a:p>
        </p:txBody>
      </p:sp>
      <p:sp>
        <p:nvSpPr>
          <p:cNvPr id="62" name="Text 20">
            <a:extLst>
              <a:ext uri="{FF2B5EF4-FFF2-40B4-BE49-F238E27FC236}">
                <a16:creationId xmlns:a16="http://schemas.microsoft.com/office/drawing/2014/main" id="{01B7631A-97EF-B59B-9183-3E61C560C9E2}"/>
              </a:ext>
            </a:extLst>
          </p:cNvPr>
          <p:cNvSpPr/>
          <p:nvPr/>
        </p:nvSpPr>
        <p:spPr>
          <a:xfrm>
            <a:off x="16478250" y="6838950"/>
            <a:ext cx="952500" cy="36195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A9BC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Helmet use frequency</a:t>
            </a:r>
            <a:endParaRPr lang="en-US" sz="1200" dirty="0"/>
          </a:p>
        </p:txBody>
      </p:sp>
      <p:pic>
        <p:nvPicPr>
          <p:cNvPr id="63" name="Image 18">
            <a:extLst>
              <a:ext uri="{FF2B5EF4-FFF2-40B4-BE49-F238E27FC236}">
                <a16:creationId xmlns:a16="http://schemas.microsoft.com/office/drawing/2014/main" id="{F2AFD70D-EBE1-4DDB-D8D3-887FB707E7B8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5049500" y="8077200"/>
            <a:ext cx="1333500" cy="1333500"/>
          </a:xfrm>
          <a:prstGeom prst="rect">
            <a:avLst/>
          </a:prstGeom>
        </p:spPr>
      </p:pic>
      <p:sp>
        <p:nvSpPr>
          <p:cNvPr id="64" name="Text 21">
            <a:extLst>
              <a:ext uri="{FF2B5EF4-FFF2-40B4-BE49-F238E27FC236}">
                <a16:creationId xmlns:a16="http://schemas.microsoft.com/office/drawing/2014/main" id="{12A9F8E6-E67C-0A2E-A6A7-369C42369B36}"/>
              </a:ext>
            </a:extLst>
          </p:cNvPr>
          <p:cNvSpPr/>
          <p:nvPr/>
        </p:nvSpPr>
        <p:spPr>
          <a:xfrm>
            <a:off x="15144750" y="8572500"/>
            <a:ext cx="1143000" cy="3429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66.6%</a:t>
            </a:r>
            <a:endParaRPr lang="en-US" sz="2100" dirty="0"/>
          </a:p>
        </p:txBody>
      </p:sp>
      <p:sp>
        <p:nvSpPr>
          <p:cNvPr id="65" name="Text 22">
            <a:extLst>
              <a:ext uri="{FF2B5EF4-FFF2-40B4-BE49-F238E27FC236}">
                <a16:creationId xmlns:a16="http://schemas.microsoft.com/office/drawing/2014/main" id="{6021E7E8-B377-D6BC-3926-01274CA2683F}"/>
              </a:ext>
            </a:extLst>
          </p:cNvPr>
          <p:cNvSpPr/>
          <p:nvPr/>
        </p:nvSpPr>
        <p:spPr>
          <a:xfrm>
            <a:off x="16478250" y="8534400"/>
            <a:ext cx="952500" cy="55245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A9BC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Ride two-wheelers often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8952" y="219456"/>
            <a:ext cx="160020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ontserrat"/>
              </a:rPr>
              <a:t>Ideation — Turning Insights into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417320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6B2B"/>
                </a:solidFill>
                <a:latin typeface="Montserrat"/>
              </a:rPr>
              <a:t>HOW MIGHT WE…  (one question per team member)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1965960"/>
            <a:ext cx="10058400" cy="1481328"/>
          </a:xfrm>
          <a:prstGeom prst="roundRect">
            <a:avLst>
              <a:gd name="adj" fmla="val 4938"/>
            </a:avLst>
          </a:prstGeom>
          <a:solidFill>
            <a:srgbClr val="12234D"/>
          </a:solidFill>
          <a:ln w="19050">
            <a:solidFill>
              <a:srgbClr val="2A4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359152"/>
            <a:ext cx="694944" cy="694944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121408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Inter"/>
              </a:rPr>
              <a:t>Detect a crash automatically and get help to the rider inside the “Golden Hour”?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880360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6B5B"/>
                </a:solidFill>
                <a:latin typeface="Inter"/>
              </a:rPr>
              <a:t>58.9% </a:t>
            </a:r>
            <a:r>
              <a:rPr sz="1400" b="0">
                <a:solidFill>
                  <a:srgbClr val="A9BCD8"/>
                </a:solidFill>
                <a:latin typeface="Inter"/>
              </a:rPr>
              <a:t>rate automatic accident detection very / extremely useful · </a:t>
            </a:r>
            <a:r>
              <a:rPr sz="1400" b="1">
                <a:solidFill>
                  <a:srgbClr val="FF6B5B"/>
                </a:solidFill>
                <a:latin typeface="Inter"/>
              </a:rPr>
              <a:t>70.5% </a:t>
            </a:r>
            <a:r>
              <a:rPr sz="1400" b="0">
                <a:solidFill>
                  <a:srgbClr val="A9BCD8"/>
                </a:solidFill>
                <a:latin typeface="Inter"/>
              </a:rPr>
              <a:t>value emergency alerts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3557016"/>
            <a:ext cx="10058400" cy="1481328"/>
          </a:xfrm>
          <a:prstGeom prst="roundRect">
            <a:avLst>
              <a:gd name="adj" fmla="val 4938"/>
            </a:avLst>
          </a:prstGeom>
          <a:solidFill>
            <a:srgbClr val="12234D"/>
          </a:solidFill>
          <a:ln w="19050">
            <a:solidFill>
              <a:srgbClr val="2A4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3950208"/>
            <a:ext cx="694944" cy="694944"/>
          </a:xfrm>
          <a:prstGeom prst="ellipse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712464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Inter"/>
              </a:rPr>
              <a:t>Make riders aware of vehicles in their blind spots without blocking sight or hearing?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471416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FA9F5"/>
                </a:solidFill>
                <a:latin typeface="Inter"/>
              </a:rPr>
              <a:t>70.5% </a:t>
            </a:r>
            <a:r>
              <a:rPr sz="1400" b="0">
                <a:solidFill>
                  <a:srgbClr val="A9BCD8"/>
                </a:solidFill>
                <a:latin typeface="Inter"/>
              </a:rPr>
              <a:t>say blind-spot assistance could improve safety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" y="5148072"/>
            <a:ext cx="10058400" cy="1481328"/>
          </a:xfrm>
          <a:prstGeom prst="roundRect">
            <a:avLst>
              <a:gd name="adj" fmla="val 4938"/>
            </a:avLst>
          </a:prstGeom>
          <a:solidFill>
            <a:srgbClr val="12234D"/>
          </a:solidFill>
          <a:ln w="19050">
            <a:solidFill>
              <a:srgbClr val="2A4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5541264"/>
            <a:ext cx="694944" cy="694944"/>
          </a:xfrm>
          <a:prstGeom prst="ellipse">
            <a:avLst/>
          </a:prstGeom>
          <a:solidFill>
            <a:srgbClr val="F5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0B1430"/>
                </a:solidFill>
                <a:latin typeface="Montserra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5303520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Inter"/>
              </a:rPr>
              <a:t>Discourage risky riding such as drunk riding or an unfastened helmet?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6062472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B82E"/>
                </a:solidFill>
                <a:latin typeface="Inter"/>
              </a:rPr>
              <a:t>26.3% </a:t>
            </a:r>
            <a:r>
              <a:rPr sz="1400" b="0">
                <a:solidFill>
                  <a:srgbClr val="A9BCD8"/>
                </a:solidFill>
                <a:latin typeface="Inter"/>
              </a:rPr>
              <a:t>picked alcohol detection as a top feature · only </a:t>
            </a:r>
            <a:r>
              <a:rPr sz="1400" b="1">
                <a:solidFill>
                  <a:srgbClr val="F5B82E"/>
                </a:solidFill>
                <a:latin typeface="Inter"/>
              </a:rPr>
              <a:t>55.5% </a:t>
            </a:r>
            <a:r>
              <a:rPr sz="1400" b="0">
                <a:solidFill>
                  <a:srgbClr val="A9BCD8"/>
                </a:solidFill>
                <a:latin typeface="Inter"/>
              </a:rPr>
              <a:t>always / mostly wear a helmet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" y="6739128"/>
            <a:ext cx="10058400" cy="1481328"/>
          </a:xfrm>
          <a:prstGeom prst="roundRect">
            <a:avLst>
              <a:gd name="adj" fmla="val 4938"/>
            </a:avLst>
          </a:prstGeom>
          <a:solidFill>
            <a:srgbClr val="12234D"/>
          </a:solidFill>
          <a:ln w="19050">
            <a:solidFill>
              <a:srgbClr val="2A4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7132320"/>
            <a:ext cx="694944" cy="694944"/>
          </a:xfrm>
          <a:prstGeom prst="ellipse">
            <a:avLst/>
          </a:prstGeom>
          <a:solidFill>
            <a:srgbClr val="2EC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0B1430"/>
                </a:solidFill>
                <a:latin typeface="Montserra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6894576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Inter"/>
              </a:rPr>
              <a:t>Add smart features while keeping the helmet cool and comfortable?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7653528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CC8A"/>
                </a:solidFill>
                <a:latin typeface="Inter"/>
              </a:rPr>
              <a:t>33.3% </a:t>
            </a:r>
            <a:r>
              <a:rPr sz="1400" b="0">
                <a:solidFill>
                  <a:srgbClr val="A9BCD8"/>
                </a:solidFill>
                <a:latin typeface="Inter"/>
              </a:rPr>
              <a:t>blame heat / sweating · </a:t>
            </a:r>
            <a:r>
              <a:rPr sz="1400" b="1">
                <a:solidFill>
                  <a:srgbClr val="2ECC8A"/>
                </a:solidFill>
                <a:latin typeface="Inter"/>
              </a:rPr>
              <a:t>27.8% </a:t>
            </a:r>
            <a:r>
              <a:rPr sz="1400" b="0">
                <a:solidFill>
                  <a:srgbClr val="A9BCD8"/>
                </a:solidFill>
                <a:latin typeface="Inter"/>
              </a:rPr>
              <a:t>discomfort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" y="8330184"/>
            <a:ext cx="10058400" cy="1481328"/>
          </a:xfrm>
          <a:prstGeom prst="roundRect">
            <a:avLst>
              <a:gd name="adj" fmla="val 4938"/>
            </a:avLst>
          </a:prstGeom>
          <a:solidFill>
            <a:srgbClr val="12234D"/>
          </a:solidFill>
          <a:ln w="19050">
            <a:solidFill>
              <a:srgbClr val="2A4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8723376"/>
            <a:ext cx="694944" cy="694944"/>
          </a:xfrm>
          <a:prstGeom prst="ellipse">
            <a:avLst/>
          </a:prstGeom>
          <a:solidFill>
            <a:srgbClr val="FF6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8485632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Inter"/>
              </a:rPr>
              <a:t>Keep it affordable, long-lasting and strong on impact protection?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9244584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6B2B"/>
                </a:solidFill>
                <a:latin typeface="Inter"/>
              </a:rPr>
              <a:t>73.7% </a:t>
            </a:r>
            <a:r>
              <a:rPr sz="1400" b="0">
                <a:solidFill>
                  <a:srgbClr val="A9BCD8"/>
                </a:solidFill>
                <a:latin typeface="Inter"/>
              </a:rPr>
              <a:t>would use one if affordable · </a:t>
            </a:r>
            <a:r>
              <a:rPr sz="1400" b="1">
                <a:solidFill>
                  <a:srgbClr val="FF6B2B"/>
                </a:solidFill>
                <a:latin typeface="Inter"/>
              </a:rPr>
              <a:t>40% </a:t>
            </a:r>
            <a:r>
              <a:rPr sz="1400" b="0">
                <a:solidFill>
                  <a:srgbClr val="A9BCD8"/>
                </a:solidFill>
                <a:latin typeface="Inter"/>
              </a:rPr>
              <a:t>want better impact protection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155680" y="1965960"/>
            <a:ext cx="6373368" cy="562356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75720" y="214884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Montserrat"/>
              </a:rPr>
              <a:t>SURVEY SIGNALS BEHIND OUR IDEAS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2542032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A"/>
                </a:solidFill>
                <a:latin typeface="Inter"/>
              </a:rPr>
              <a:t>% of survey respondents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11338560" y="2880360"/>
          <a:ext cx="603504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11155680" y="7772400"/>
            <a:ext cx="6373368" cy="1920240"/>
          </a:xfrm>
          <a:prstGeom prst="roundRect">
            <a:avLst>
              <a:gd name="adj" fmla="val 3809"/>
            </a:avLst>
          </a:prstGeom>
          <a:solidFill>
            <a:srgbClr val="12234D"/>
          </a:solidFill>
          <a:ln w="19050">
            <a:solidFill>
              <a:srgbClr val="2A4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75720" y="7936992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6B2B"/>
                </a:solidFill>
                <a:latin typeface="Montserrat"/>
              </a:rPr>
              <a:t>GROUND RULES FOR BRAINSTORMING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75720" y="8366760"/>
            <a:ext cx="5760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CFE3F7"/>
                </a:solidFill>
                <a:latin typeface="Inter"/>
              </a:rPr>
              <a:t>•  Defer judgment — no bad ideas yet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CFE3F7"/>
                </a:solidFill>
                <a:latin typeface="Inter"/>
              </a:rPr>
              <a:t>•  Quantity first: 8 ideas in 8 minutes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CFE3F7"/>
                </a:solidFill>
                <a:latin typeface="Inter"/>
              </a:rPr>
              <a:t>•  Build on each other’s ideas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CFE3F7"/>
                </a:solidFill>
                <a:latin typeface="Inter"/>
              </a:rPr>
              <a:t>•  Stay linked to rider evidence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8952" y="219456"/>
            <a:ext cx="160020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ontserrat"/>
              </a:rPr>
              <a:t>Crazy 8 — 5 Members × 8 Ideas in 8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115568"/>
            <a:ext cx="1600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A9BCD8"/>
                </a:solidFill>
                <a:latin typeface="Inter"/>
              </a:rPr>
              <a:t>Each member folded a sheet into 8 panels and sketched one idea per minute, answering their own HMW.  ★ = idea taken forward to selection.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1828800"/>
            <a:ext cx="3207715" cy="7863840"/>
          </a:xfrm>
          <a:prstGeom prst="roundRect">
            <a:avLst>
              <a:gd name="adj" fmla="val 2280"/>
            </a:avLst>
          </a:prstGeom>
          <a:solidFill>
            <a:srgbClr val="12234D"/>
          </a:solidFill>
          <a:ln w="2540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1832" y="2011680"/>
            <a:ext cx="566928" cy="566928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5064" y="1984248"/>
            <a:ext cx="22018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6B5B"/>
                </a:solidFill>
                <a:latin typeface="Montserrat"/>
              </a:rPr>
              <a:t>MEMBER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5064" y="2240280"/>
            <a:ext cx="22018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Inter"/>
              </a:rPr>
              <a:t>Crash &amp; Rescue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834640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FF6B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89864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1329" y="28620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F5B82E"/>
                </a:solidFill>
                <a:latin typeface="Inter"/>
              </a:rPr>
              <a:t>★</a:t>
            </a:r>
          </a:p>
        </p:txBody>
      </p:sp>
      <p:pic>
        <p:nvPicPr>
          <p:cNvPr id="12" name="Picture 11" descr="m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280" y="3035808"/>
            <a:ext cx="530352" cy="5303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0976" y="3657600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Impact-sensor trigger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6817" y="2834640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FF6B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8257" y="289864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2035" y="28620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F5B82E"/>
                </a:solidFill>
                <a:latin typeface="Inter"/>
              </a:rPr>
              <a:t>★</a:t>
            </a:r>
          </a:p>
        </p:txBody>
      </p:sp>
      <p:pic>
        <p:nvPicPr>
          <p:cNvPr id="17" name="Picture 16" descr="m1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2986" y="3035808"/>
            <a:ext cx="530352" cy="53035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481681" y="3657600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Free-fall + stillness check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" y="4535424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FF6B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5994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1329" y="45628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F5B82E"/>
                </a:solidFill>
                <a:latin typeface="Inter"/>
              </a:rPr>
              <a:t>★</a:t>
            </a:r>
          </a:p>
        </p:txBody>
      </p:sp>
      <p:pic>
        <p:nvPicPr>
          <p:cNvPr id="22" name="Picture 21" descr="m1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2280" y="4736592"/>
            <a:ext cx="530352" cy="53035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50976" y="5358384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30-sec “I’m OK” cancel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26817" y="4535424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FF6B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8257" y="45994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82035" y="45628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F5B82E"/>
                </a:solidFill>
                <a:latin typeface="Inter"/>
              </a:rPr>
              <a:t>★</a:t>
            </a:r>
          </a:p>
        </p:txBody>
      </p:sp>
      <p:pic>
        <p:nvPicPr>
          <p:cNvPr id="27" name="Picture 26" descr="m1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986" y="4736592"/>
            <a:ext cx="530352" cy="53035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481681" y="5358384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GPS location in SOS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" y="6236208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FF6B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630021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51329" y="62636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F5B82E"/>
                </a:solidFill>
                <a:latin typeface="Inter"/>
              </a:rPr>
              <a:t>★</a:t>
            </a:r>
          </a:p>
        </p:txBody>
      </p:sp>
      <p:pic>
        <p:nvPicPr>
          <p:cNvPr id="32" name="Picture 31" descr="m1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2280" y="6437376"/>
            <a:ext cx="530352" cy="53035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50976" y="7059168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Auto-SMS to family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26817" y="6236208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FF6B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18257" y="630021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6</a:t>
            </a:r>
          </a:p>
        </p:txBody>
      </p:sp>
      <p:pic>
        <p:nvPicPr>
          <p:cNvPr id="36" name="Picture 35" descr="m1_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62986" y="6437376"/>
            <a:ext cx="530352" cy="53035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481681" y="7059168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Ping nearest hospital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6112" y="7936992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FF6B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" y="8001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7</a:t>
            </a:r>
          </a:p>
        </p:txBody>
      </p:sp>
      <p:pic>
        <p:nvPicPr>
          <p:cNvPr id="40" name="Picture 39" descr="m1_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2280" y="8138160"/>
            <a:ext cx="530352" cy="53035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50976" y="8759952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Crash “black box” log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426817" y="7936992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FF6B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18257" y="8001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8</a:t>
            </a:r>
          </a:p>
        </p:txBody>
      </p:sp>
      <p:pic>
        <p:nvPicPr>
          <p:cNvPr id="44" name="Picture 43" descr="m1_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62986" y="8138160"/>
            <a:ext cx="530352" cy="53035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481681" y="8759952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Siren + beacon LED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49547" y="1828800"/>
            <a:ext cx="3207715" cy="7863840"/>
          </a:xfrm>
          <a:prstGeom prst="roundRect">
            <a:avLst>
              <a:gd name="adj" fmla="val 2280"/>
            </a:avLst>
          </a:prstGeom>
          <a:solidFill>
            <a:srgbClr val="12234D"/>
          </a:solidFill>
          <a:ln w="25400">
            <a:solidFill>
              <a:srgbClr val="3FA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332427" y="2011680"/>
            <a:ext cx="566928" cy="566928"/>
          </a:xfrm>
          <a:prstGeom prst="ellipse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45659" y="1984248"/>
            <a:ext cx="22018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FA9F5"/>
                </a:solidFill>
                <a:latin typeface="Montserrat"/>
              </a:rPr>
              <a:t>MEMBER 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45659" y="2240280"/>
            <a:ext cx="22018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Inter"/>
              </a:rPr>
              <a:t>Awareness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86707" y="2834640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3FA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78147" y="289864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41924" y="28620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F5B82E"/>
                </a:solidFill>
                <a:latin typeface="Inter"/>
              </a:rPr>
              <a:t>★</a:t>
            </a:r>
          </a:p>
        </p:txBody>
      </p:sp>
      <p:pic>
        <p:nvPicPr>
          <p:cNvPr id="53" name="Picture 52" descr="m2_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22876" y="3035808"/>
            <a:ext cx="530352" cy="53035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4341571" y="3657600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Rear ultrasonic radar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817412" y="2834640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3FA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08852" y="289864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72630" y="28620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F5B82E"/>
                </a:solidFill>
                <a:latin typeface="Inter"/>
              </a:rPr>
              <a:t>★</a:t>
            </a:r>
          </a:p>
        </p:txBody>
      </p:sp>
      <p:pic>
        <p:nvPicPr>
          <p:cNvPr id="58" name="Picture 57" descr="m2_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53581" y="3035808"/>
            <a:ext cx="530352" cy="53035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5872276" y="3657600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LED blind-spot light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286707" y="4535424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3FA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78147" y="45994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3</a:t>
            </a:r>
          </a:p>
        </p:txBody>
      </p:sp>
      <p:pic>
        <p:nvPicPr>
          <p:cNvPr id="62" name="Picture 61" descr="m2_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22876" y="4736592"/>
            <a:ext cx="530352" cy="53035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4341571" y="5358384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Side vibration warning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817412" y="4535424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3FA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08852" y="45994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4</a:t>
            </a:r>
          </a:p>
        </p:txBody>
      </p:sp>
      <p:pic>
        <p:nvPicPr>
          <p:cNvPr id="66" name="Picture 65" descr="m2_4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53581" y="4736592"/>
            <a:ext cx="530352" cy="53035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5872276" y="5358384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Tiny rear camera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286707" y="6236208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3FA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378147" y="630021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5</a:t>
            </a:r>
          </a:p>
        </p:txBody>
      </p:sp>
      <p:pic>
        <p:nvPicPr>
          <p:cNvPr id="70" name="Picture 69" descr="m2_5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22876" y="6437376"/>
            <a:ext cx="530352" cy="53035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41571" y="7059168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Bone-conduction alerts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817412" y="6236208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3FA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08852" y="630021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6</a:t>
            </a:r>
          </a:p>
        </p:txBody>
      </p:sp>
      <p:pic>
        <p:nvPicPr>
          <p:cNvPr id="74" name="Picture 73" descr="m2_6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53581" y="6437376"/>
            <a:ext cx="530352" cy="530352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5872276" y="7059168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Wide-angle visor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286707" y="7936992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3FA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378147" y="8001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7</a:t>
            </a:r>
          </a:p>
        </p:txBody>
      </p:sp>
      <p:pic>
        <p:nvPicPr>
          <p:cNvPr id="78" name="Picture 77" descr="m2_7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22876" y="8138160"/>
            <a:ext cx="530352" cy="530352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4341571" y="8759952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Helmet turn signals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817412" y="7936992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3FA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908852" y="8001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8</a:t>
            </a:r>
          </a:p>
        </p:txBody>
      </p:sp>
      <p:pic>
        <p:nvPicPr>
          <p:cNvPr id="82" name="Picture 81" descr="m2_8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53581" y="8138160"/>
            <a:ext cx="530352" cy="530352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5872276" y="8759952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Approaching-car HUD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540142" y="1828800"/>
            <a:ext cx="3207715" cy="7863840"/>
          </a:xfrm>
          <a:prstGeom prst="roundRect">
            <a:avLst>
              <a:gd name="adj" fmla="val 2280"/>
            </a:avLst>
          </a:prstGeom>
          <a:solidFill>
            <a:srgbClr val="12234D"/>
          </a:solidFill>
          <a:ln w="25400">
            <a:solidFill>
              <a:srgbClr val="F5B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7723022" y="2011680"/>
            <a:ext cx="566928" cy="566928"/>
          </a:xfrm>
          <a:prstGeom prst="ellipse">
            <a:avLst/>
          </a:prstGeom>
          <a:solidFill>
            <a:srgbClr val="F5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B1430"/>
                </a:solidFill>
                <a:latin typeface="Montserrat"/>
              </a:rPr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436254" y="1984248"/>
            <a:ext cx="22018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B82E"/>
                </a:solidFill>
                <a:latin typeface="Montserrat"/>
              </a:rPr>
              <a:t>MEMBER 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436254" y="2240280"/>
            <a:ext cx="22018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Inter"/>
              </a:rPr>
              <a:t>Safe Riding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677302" y="2834640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F5B82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768742" y="289864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732520" y="28620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F5B82E"/>
                </a:solidFill>
                <a:latin typeface="Inter"/>
              </a:rPr>
              <a:t>★</a:t>
            </a:r>
          </a:p>
        </p:txBody>
      </p:sp>
      <p:pic>
        <p:nvPicPr>
          <p:cNvPr id="91" name="Picture 90" descr="m3_1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13471" y="3035808"/>
            <a:ext cx="530352" cy="530352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7732166" y="3657600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Breath-alcohol sensor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208008" y="2834640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F5B82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299448" y="289864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2</a:t>
            </a:r>
          </a:p>
        </p:txBody>
      </p:sp>
      <p:pic>
        <p:nvPicPr>
          <p:cNvPr id="95" name="Picture 94" descr="m3_2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44176" y="3035808"/>
            <a:ext cx="530352" cy="530352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9262872" y="3657600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Ignition lock if drunk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677302" y="4535424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F5B82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768742" y="45994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732520" y="45628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F5B82E"/>
                </a:solidFill>
                <a:latin typeface="Inter"/>
              </a:rPr>
              <a:t>★</a:t>
            </a:r>
          </a:p>
        </p:txBody>
      </p:sp>
      <p:pic>
        <p:nvPicPr>
          <p:cNvPr id="100" name="Picture 99" descr="m3_3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13471" y="4736592"/>
            <a:ext cx="530352" cy="530352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7732166" y="5358384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Buckle-strap sensor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208008" y="4535424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F5B82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299448" y="45994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4</a:t>
            </a:r>
          </a:p>
        </p:txBody>
      </p:sp>
      <p:pic>
        <p:nvPicPr>
          <p:cNvPr id="104" name="Picture 103" descr="m3_4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644176" y="4736592"/>
            <a:ext cx="530352" cy="530352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9262872" y="5358384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Helmet-worn check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677302" y="6236208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F5B82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768742" y="630021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5</a:t>
            </a:r>
          </a:p>
        </p:txBody>
      </p:sp>
      <p:pic>
        <p:nvPicPr>
          <p:cNvPr id="108" name="Picture 107" descr="m3_5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13471" y="6437376"/>
            <a:ext cx="530352" cy="530352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7732166" y="7059168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Match helmet to bike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9208008" y="6236208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F5B82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299448" y="630021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6</a:t>
            </a:r>
          </a:p>
        </p:txBody>
      </p:sp>
      <p:pic>
        <p:nvPicPr>
          <p:cNvPr id="112" name="Picture 111" descr="m3_6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644176" y="6437376"/>
            <a:ext cx="530352" cy="530352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9262872" y="7059168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Over-speed buzzer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7677302" y="7936992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F5B82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768742" y="8001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7</a:t>
            </a:r>
          </a:p>
        </p:txBody>
      </p:sp>
      <p:pic>
        <p:nvPicPr>
          <p:cNvPr id="116" name="Picture 115" descr="m3_7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113471" y="8138160"/>
            <a:ext cx="530352" cy="530352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7732166" y="8759952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Weekly safety score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208008" y="7936992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F5B82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299448" y="8001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8</a:t>
            </a:r>
          </a:p>
        </p:txBody>
      </p:sp>
      <p:pic>
        <p:nvPicPr>
          <p:cNvPr id="120" name="Picture 119" descr="m3_8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644176" y="8138160"/>
            <a:ext cx="530352" cy="530352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9262872" y="8759952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Family dashboard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0930737" y="1828800"/>
            <a:ext cx="3207715" cy="7863840"/>
          </a:xfrm>
          <a:prstGeom prst="roundRect">
            <a:avLst>
              <a:gd name="adj" fmla="val 2280"/>
            </a:avLst>
          </a:prstGeom>
          <a:solidFill>
            <a:srgbClr val="12234D"/>
          </a:solidFill>
          <a:ln w="25400">
            <a:solidFill>
              <a:srgbClr val="2EC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1113617" y="2011680"/>
            <a:ext cx="566928" cy="566928"/>
          </a:xfrm>
          <a:prstGeom prst="ellipse">
            <a:avLst/>
          </a:prstGeom>
          <a:solidFill>
            <a:srgbClr val="2EC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B1430"/>
                </a:solidFill>
                <a:latin typeface="Montserrat"/>
              </a:rPr>
              <a:t>4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826849" y="1984248"/>
            <a:ext cx="22018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ECC8A"/>
                </a:solidFill>
                <a:latin typeface="Montserrat"/>
              </a:rPr>
              <a:t>MEMBER 4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826849" y="2240280"/>
            <a:ext cx="22018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Inter"/>
              </a:rPr>
              <a:t>Cool &amp; Comfort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1067897" y="2834640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2ECC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1159337" y="289864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2123115" y="28620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F5B82E"/>
                </a:solidFill>
                <a:latin typeface="Inter"/>
              </a:rPr>
              <a:t>★</a:t>
            </a:r>
          </a:p>
        </p:txBody>
      </p:sp>
      <p:pic>
        <p:nvPicPr>
          <p:cNvPr id="129" name="Picture 128" descr="m4_1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504066" y="3035808"/>
            <a:ext cx="530352" cy="530352"/>
          </a:xfrm>
          <a:prstGeom prst="rect">
            <a:avLst/>
          </a:prstGeom>
        </p:spPr>
      </p:pic>
      <p:sp>
        <p:nvSpPr>
          <p:cNvPr id="130" name="TextBox 129"/>
          <p:cNvSpPr txBox="1"/>
          <p:nvPr/>
        </p:nvSpPr>
        <p:spPr>
          <a:xfrm>
            <a:off x="11122761" y="3657600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Vent channels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2598603" y="2834640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2ECC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2690043" y="289864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2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3653820" y="28620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F5B82E"/>
                </a:solidFill>
                <a:latin typeface="Inter"/>
              </a:rPr>
              <a:t>★</a:t>
            </a:r>
          </a:p>
        </p:txBody>
      </p:sp>
      <p:pic>
        <p:nvPicPr>
          <p:cNvPr id="134" name="Picture 133" descr="m4_2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3034772" y="3035808"/>
            <a:ext cx="530352" cy="530352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12653467" y="3657600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Moisture-wicking liner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1067897" y="4535424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2ECC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1159337" y="45994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3</a:t>
            </a:r>
          </a:p>
        </p:txBody>
      </p:sp>
      <p:pic>
        <p:nvPicPr>
          <p:cNvPr id="138" name="Picture 137" descr="m4_3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1504066" y="4736592"/>
            <a:ext cx="530352" cy="530352"/>
          </a:xfrm>
          <a:prstGeom prst="rect">
            <a:avLst/>
          </a:prstGeom>
        </p:spPr>
      </p:pic>
      <p:sp>
        <p:nvSpPr>
          <p:cNvPr id="139" name="TextBox 138"/>
          <p:cNvSpPr txBox="1"/>
          <p:nvPr/>
        </p:nvSpPr>
        <p:spPr>
          <a:xfrm>
            <a:off x="11122761" y="5358384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Crown micro-fan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12598603" y="4535424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2ECC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2690043" y="45994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4</a:t>
            </a:r>
          </a:p>
        </p:txBody>
      </p:sp>
      <p:pic>
        <p:nvPicPr>
          <p:cNvPr id="142" name="Picture 141" descr="m4_4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3034772" y="4736592"/>
            <a:ext cx="530352" cy="530352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12653467" y="5358384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Ultra-light shell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11067897" y="6236208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2ECC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1159337" y="630021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5</a:t>
            </a:r>
          </a:p>
        </p:txBody>
      </p:sp>
      <p:pic>
        <p:nvPicPr>
          <p:cNvPr id="146" name="Picture 145" descr="m4_5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1504066" y="6437376"/>
            <a:ext cx="530352" cy="530352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11122761" y="7059168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Cooling gel pad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2598603" y="6236208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2ECC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2690043" y="630021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6</a:t>
            </a:r>
          </a:p>
        </p:txBody>
      </p:sp>
      <p:pic>
        <p:nvPicPr>
          <p:cNvPr id="150" name="Picture 149" descr="m4_6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3034772" y="6437376"/>
            <a:ext cx="530352" cy="530352"/>
          </a:xfrm>
          <a:prstGeom prst="rect">
            <a:avLst/>
          </a:prstGeom>
        </p:spPr>
      </p:pic>
      <p:sp>
        <p:nvSpPr>
          <p:cNvPr id="151" name="TextBox 150"/>
          <p:cNvSpPr txBox="1"/>
          <p:nvPr/>
        </p:nvSpPr>
        <p:spPr>
          <a:xfrm>
            <a:off x="12653467" y="7059168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Washable liner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1067897" y="7936992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2ECC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1159337" y="8001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7</a:t>
            </a:r>
          </a:p>
        </p:txBody>
      </p:sp>
      <p:pic>
        <p:nvPicPr>
          <p:cNvPr id="154" name="Picture 153" descr="m4_7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1504066" y="8138160"/>
            <a:ext cx="530352" cy="530352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11122761" y="8759952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Quick-fit dial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12598603" y="7936992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2ECC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2690043" y="8001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8</a:t>
            </a:r>
          </a:p>
        </p:txBody>
      </p:sp>
      <p:pic>
        <p:nvPicPr>
          <p:cNvPr id="158" name="Picture 157" descr="m4_8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3034772" y="8138160"/>
            <a:ext cx="530352" cy="530352"/>
          </a:xfrm>
          <a:prstGeom prst="rect">
            <a:avLst/>
          </a:prstGeom>
        </p:spPr>
      </p:pic>
      <p:sp>
        <p:nvSpPr>
          <p:cNvPr id="159" name="TextBox 158"/>
          <p:cNvSpPr txBox="1"/>
          <p:nvPr/>
        </p:nvSpPr>
        <p:spPr>
          <a:xfrm>
            <a:off x="12653467" y="8759952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Anti-fog visor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14321332" y="1828800"/>
            <a:ext cx="3207715" cy="7863840"/>
          </a:xfrm>
          <a:prstGeom prst="roundRect">
            <a:avLst>
              <a:gd name="adj" fmla="val 2280"/>
            </a:avLst>
          </a:prstGeom>
          <a:solidFill>
            <a:srgbClr val="12234D"/>
          </a:solidFill>
          <a:ln w="25400">
            <a:solidFill>
              <a:srgbClr val="FF6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4504212" y="2011680"/>
            <a:ext cx="566928" cy="566928"/>
          </a:xfrm>
          <a:prstGeom prst="ellipse">
            <a:avLst/>
          </a:prstGeom>
          <a:solidFill>
            <a:srgbClr val="FF6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5217444" y="1984248"/>
            <a:ext cx="22018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6B2B"/>
                </a:solidFill>
                <a:latin typeface="Montserrat"/>
              </a:rPr>
              <a:t>MEMBER 5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5217444" y="2240280"/>
            <a:ext cx="22018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Inter"/>
              </a:rPr>
              <a:t>Strong &amp; Affordable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14458492" y="2834640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FF6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4549932" y="289864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1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5513710" y="28620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F5B82E"/>
                </a:solidFill>
                <a:latin typeface="Inter"/>
              </a:rPr>
              <a:t>★</a:t>
            </a:r>
          </a:p>
        </p:txBody>
      </p:sp>
      <p:pic>
        <p:nvPicPr>
          <p:cNvPr id="167" name="Picture 166" descr="m5_1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4894661" y="3035808"/>
            <a:ext cx="530352" cy="530352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14513356" y="3657600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Upgraded impact foam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5989198" y="2834640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FF6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6080638" y="289864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2</a:t>
            </a:r>
          </a:p>
        </p:txBody>
      </p:sp>
      <p:pic>
        <p:nvPicPr>
          <p:cNvPr id="171" name="Picture 170" descr="m5_2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6425367" y="3035808"/>
            <a:ext cx="530352" cy="530352"/>
          </a:xfrm>
          <a:prstGeom prst="rect">
            <a:avLst/>
          </a:prstGeom>
        </p:spPr>
      </p:pic>
      <p:sp>
        <p:nvSpPr>
          <p:cNvPr id="172" name="TextBox 171"/>
          <p:cNvSpPr txBox="1"/>
          <p:nvPr/>
        </p:nvSpPr>
        <p:spPr>
          <a:xfrm>
            <a:off x="16044062" y="3657600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Modular sensor pod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14458492" y="4535424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FF6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4549932" y="45994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3</a:t>
            </a:r>
          </a:p>
        </p:txBody>
      </p:sp>
      <p:pic>
        <p:nvPicPr>
          <p:cNvPr id="175" name="Picture 174" descr="m5_3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4894661" y="4736592"/>
            <a:ext cx="530352" cy="530352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14513356" y="5358384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Solar charge strip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15989198" y="4535424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FF6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6080638" y="45994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4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7044416" y="45628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F5B82E"/>
                </a:solidFill>
                <a:latin typeface="Inter"/>
              </a:rPr>
              <a:t>★</a:t>
            </a:r>
          </a:p>
        </p:txBody>
      </p:sp>
      <p:pic>
        <p:nvPicPr>
          <p:cNvPr id="180" name="Picture 179" descr="m5_4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6425367" y="4736592"/>
            <a:ext cx="530352" cy="530352"/>
          </a:xfrm>
          <a:prstGeom prst="rect">
            <a:avLst/>
          </a:prstGeom>
        </p:spPr>
      </p:pic>
      <p:sp>
        <p:nvSpPr>
          <p:cNvPr id="181" name="TextBox 180"/>
          <p:cNvSpPr txBox="1"/>
          <p:nvPr/>
        </p:nvSpPr>
        <p:spPr>
          <a:xfrm>
            <a:off x="16044062" y="5358384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Long-life battery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14458492" y="6236208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FF6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14549932" y="630021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5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5513710" y="62636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F5B82E"/>
                </a:solidFill>
                <a:latin typeface="Inter"/>
              </a:rPr>
              <a:t>★</a:t>
            </a:r>
          </a:p>
        </p:txBody>
      </p:sp>
      <p:pic>
        <p:nvPicPr>
          <p:cNvPr id="185" name="Picture 184" descr="m5_5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4894661" y="6437376"/>
            <a:ext cx="530352" cy="530352"/>
          </a:xfrm>
          <a:prstGeom prst="rect">
            <a:avLst/>
          </a:prstGeom>
        </p:spPr>
      </p:pic>
      <p:sp>
        <p:nvSpPr>
          <p:cNvPr id="186" name="TextBox 185"/>
          <p:cNvSpPr txBox="1"/>
          <p:nvPr/>
        </p:nvSpPr>
        <p:spPr>
          <a:xfrm>
            <a:off x="14513356" y="7059168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Low-power sleep mode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15989198" y="6236208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FF6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6080638" y="630021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6</a:t>
            </a:r>
          </a:p>
        </p:txBody>
      </p:sp>
      <p:pic>
        <p:nvPicPr>
          <p:cNvPr id="189" name="Picture 188" descr="m5_6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6425367" y="6437376"/>
            <a:ext cx="530352" cy="530352"/>
          </a:xfrm>
          <a:prstGeom prst="rect">
            <a:avLst/>
          </a:prstGeom>
        </p:spPr>
      </p:pic>
      <p:sp>
        <p:nvSpPr>
          <p:cNvPr id="190" name="TextBox 189"/>
          <p:cNvSpPr txBox="1"/>
          <p:nvPr/>
        </p:nvSpPr>
        <p:spPr>
          <a:xfrm>
            <a:off x="16044062" y="7059168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Works without phone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14458492" y="7936992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FF6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4549932" y="8001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7</a:t>
            </a:r>
          </a:p>
        </p:txBody>
      </p:sp>
      <p:pic>
        <p:nvPicPr>
          <p:cNvPr id="193" name="Picture 192" descr="m5_7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4894661" y="8138160"/>
            <a:ext cx="530352" cy="530352"/>
          </a:xfrm>
          <a:prstGeom prst="rect">
            <a:avLst/>
          </a:prstGeom>
        </p:spPr>
      </p:pic>
      <p:sp>
        <p:nvSpPr>
          <p:cNvPr id="194" name="TextBox 193"/>
          <p:cNvSpPr txBox="1"/>
          <p:nvPr/>
        </p:nvSpPr>
        <p:spPr>
          <a:xfrm>
            <a:off x="14513356" y="8759952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Low-cost parts list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15989198" y="7936992"/>
            <a:ext cx="1402689" cy="1591056"/>
          </a:xfrm>
          <a:prstGeom prst="roundRect">
            <a:avLst>
              <a:gd name="adj" fmla="val 6518"/>
            </a:avLst>
          </a:prstGeom>
          <a:solidFill>
            <a:srgbClr val="0D193A"/>
          </a:solidFill>
          <a:ln w="15875">
            <a:solidFill>
              <a:srgbClr val="FF6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6080638" y="8001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9BCD8"/>
                </a:solidFill>
                <a:latin typeface="Montserrat"/>
              </a:rPr>
              <a:t>8</a:t>
            </a:r>
          </a:p>
        </p:txBody>
      </p:sp>
      <p:pic>
        <p:nvPicPr>
          <p:cNvPr id="197" name="Picture 196" descr="m5_8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6425367" y="8138160"/>
            <a:ext cx="530352" cy="530352"/>
          </a:xfrm>
          <a:prstGeom prst="rect">
            <a:avLst/>
          </a:prstGeom>
        </p:spPr>
      </p:pic>
      <p:sp>
        <p:nvSpPr>
          <p:cNvPr id="198" name="TextBox 197"/>
          <p:cNvSpPr txBox="1"/>
          <p:nvPr/>
        </p:nvSpPr>
        <p:spPr>
          <a:xfrm>
            <a:off x="16044062" y="8759952"/>
            <a:ext cx="129296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Retrofit kit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8952" y="219456"/>
            <a:ext cx="160020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ontserrat"/>
              </a:rPr>
              <a:t>Idea Selection — Evidence Over Opinion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115568"/>
            <a:ext cx="1600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A9BCD8"/>
                </a:solidFill>
                <a:latin typeface="Inter"/>
              </a:rPr>
              <a:t>Every Crazy 8 idea was scored against our own survey data and the secondary research. The strongest ideas combine into one concept.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8952" y="1783080"/>
          <a:ext cx="16770096" cy="7863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846320"/>
                <a:gridCol w="4206240"/>
                <a:gridCol w="4297680"/>
                <a:gridCol w="1645920"/>
                <a:gridCol w="1773936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6B2B"/>
                          </a:solidFill>
                          <a:latin typeface="Inter"/>
                        </a:rPr>
                        <a:t>CONCEPT (FROM CRAZY 8)</a:t>
                      </a:r>
                    </a:p>
                  </a:txBody>
                  <a:tcPr marL="137160" marR="137160" marT="54864" marB="54864" anchor="ctr">
                    <a:solidFill>
                      <a:srgbClr val="0A1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6B2B"/>
                          </a:solidFill>
                          <a:latin typeface="Inter"/>
                        </a:rPr>
                        <a:t>SURVEY DEMAND</a:t>
                      </a:r>
                    </a:p>
                  </a:txBody>
                  <a:tcPr marL="137160" marR="137160" marT="54864" marB="54864" anchor="ctr">
                    <a:solidFill>
                      <a:srgbClr val="0A1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6B2B"/>
                          </a:solidFill>
                          <a:latin typeface="Inter"/>
                        </a:rPr>
                        <a:t>RESEARCH BACKING</a:t>
                      </a:r>
                    </a:p>
                  </a:txBody>
                  <a:tcPr marL="137160" marR="137160" marT="54864" marB="54864" anchor="ctr">
                    <a:solidFill>
                      <a:srgbClr val="0A1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6B2B"/>
                          </a:solidFill>
                          <a:latin typeface="Inter"/>
                        </a:rPr>
                        <a:t>FEASIBILITY</a:t>
                      </a:r>
                    </a:p>
                  </a:txBody>
                  <a:tcPr marL="137160" marR="137160" marT="54864" marB="54864" anchor="ctr">
                    <a:solidFill>
                      <a:srgbClr val="0A16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6B2B"/>
                          </a:solidFill>
                          <a:latin typeface="Inter"/>
                        </a:rPr>
                        <a:t>DECISION</a:t>
                      </a:r>
                    </a:p>
                  </a:txBody>
                  <a:tcPr marL="137160" marR="137160" marT="54864" marB="54864" anchor="ctr">
                    <a:solidFill>
                      <a:srgbClr val="0A1638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Crash detection: impact + free-fall + stillness  (M1)</a:t>
                      </a:r>
                    </a:p>
                  </a:txBody>
                  <a:tcPr marL="137160" marR="137160" marT="54864" marB="54864" anchor="ctr">
                    <a:solidFill>
                      <a:srgbClr val="1223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CFE3F7"/>
                          </a:solidFill>
                          <a:latin typeface="Inter"/>
                        </a:rPr>
                        <a:t>58.9% rate it very / extremely useful; top-picked feature at 31.6%</a:t>
                      </a:r>
                    </a:p>
                  </a:txBody>
                  <a:tcPr marL="137160" marR="137160" marT="54864" marB="54864" anchor="ctr">
                    <a:solidFill>
                      <a:srgbClr val="1223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CFE3F7"/>
                          </a:solidFill>
                          <a:latin typeface="Inter"/>
                        </a:rPr>
                        <a:t>US20190357618A1 and US10897947B2 confirm a real fall and cut false alarms</a:t>
                      </a:r>
                    </a:p>
                  </a:txBody>
                  <a:tcPr marL="137160" marR="137160" marT="54864" marB="54864" anchor="ctr">
                    <a:solidFill>
                      <a:srgbClr val="1223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CC8A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marL="137160" marR="137160" marT="54864" marB="54864" anchor="ctr">
                    <a:solidFill>
                      <a:srgbClr val="1223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CC8A"/>
                          </a:solidFill>
                          <a:latin typeface="Inter"/>
                        </a:rPr>
                        <a:t>BUILD NOW</a:t>
                      </a:r>
                    </a:p>
                  </a:txBody>
                  <a:tcPr marL="137160" marR="137160" marT="54864" marB="54864" anchor="ctr">
                    <a:solidFill>
                      <a:srgbClr val="12234D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Auto SOS: GPS + GSM alert with 30-sec cancel  (M1)</a:t>
                      </a:r>
                    </a:p>
                  </a:txBody>
                  <a:tcPr marL="137160" marR="137160" marT="54864" marB="54864" anchor="ctr">
                    <a:solidFill>
                      <a:srgbClr val="0F1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CFE3F7"/>
                          </a:solidFill>
                          <a:latin typeface="Inter"/>
                        </a:rPr>
                        <a:t>70.5% rate emergency alerts very / extremely useful</a:t>
                      </a:r>
                    </a:p>
                  </a:txBody>
                  <a:tcPr marL="137160" marR="137160" marT="54864" marB="54864" anchor="ctr">
                    <a:solidFill>
                      <a:srgbClr val="0F1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CFE3F7"/>
                          </a:solidFill>
                          <a:latin typeface="Inter"/>
                        </a:rPr>
                        <a:t>Cowsigan 2020; 2026 low-cost helmet reports 2.8 s alert latency</a:t>
                      </a:r>
                    </a:p>
                  </a:txBody>
                  <a:tcPr marL="137160" marR="137160" marT="54864" marB="54864" anchor="ctr">
                    <a:solidFill>
                      <a:srgbClr val="0F1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CC8A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marL="137160" marR="137160" marT="54864" marB="54864" anchor="ctr">
                    <a:solidFill>
                      <a:srgbClr val="0F1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CC8A"/>
                          </a:solidFill>
                          <a:latin typeface="Inter"/>
                        </a:rPr>
                        <a:t>BUILD NOW</a:t>
                      </a:r>
                    </a:p>
                  </a:txBody>
                  <a:tcPr marL="137160" marR="137160" marT="54864" marB="54864" anchor="ctr">
                    <a:solidFill>
                      <a:srgbClr val="0F1E4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Blind-spot radar + LED / vibration warning  (M2)</a:t>
                      </a:r>
                    </a:p>
                  </a:txBody>
                  <a:tcPr marL="137160" marR="137160" marT="54864" marB="54864" anchor="ctr">
                    <a:solidFill>
                      <a:srgbClr val="1223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CFE3F7"/>
                          </a:solidFill>
                          <a:latin typeface="Inter"/>
                        </a:rPr>
                        <a:t>70.5% say it could improve two-wheeler safety</a:t>
                      </a:r>
                    </a:p>
                  </a:txBody>
                  <a:tcPr marL="137160" marR="137160" marT="54864" marB="54864" anchor="ctr">
                    <a:solidFill>
                      <a:srgbClr val="1223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CFE3F7"/>
                          </a:solidFill>
                          <a:latin typeface="Inter"/>
                        </a:rPr>
                        <a:t>Interview 2: vehicles from the side go unnoticed in heavy traffic</a:t>
                      </a:r>
                    </a:p>
                  </a:txBody>
                  <a:tcPr marL="137160" marR="137160" marT="54864" marB="54864" anchor="ctr">
                    <a:solidFill>
                      <a:srgbClr val="1223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5B82E"/>
                          </a:solidFill>
                          <a:latin typeface="Inter"/>
                        </a:rPr>
                        <a:t>Medium</a:t>
                      </a:r>
                    </a:p>
                  </a:txBody>
                  <a:tcPr marL="137160" marR="137160" marT="54864" marB="54864" anchor="ctr">
                    <a:solidFill>
                      <a:srgbClr val="1223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CC8A"/>
                          </a:solidFill>
                          <a:latin typeface="Inter"/>
                        </a:rPr>
                        <a:t>BUILD NOW</a:t>
                      </a:r>
                    </a:p>
                  </a:txBody>
                  <a:tcPr marL="137160" marR="137160" marT="54864" marB="54864" anchor="ctr">
                    <a:solidFill>
                      <a:srgbClr val="12234D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Breath-alcohol sensor with warning  (M3)</a:t>
                      </a:r>
                    </a:p>
                  </a:txBody>
                  <a:tcPr marL="137160" marR="137160" marT="54864" marB="54864" anchor="ctr">
                    <a:solidFill>
                      <a:srgbClr val="0F1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CFE3F7"/>
                          </a:solidFill>
                          <a:latin typeface="Inter"/>
                        </a:rPr>
                        <a:t>26.3% chose it as a top feature, second after crash detection</a:t>
                      </a:r>
                    </a:p>
                  </a:txBody>
                  <a:tcPr marL="137160" marR="137160" marT="54864" marB="54864" anchor="ctr">
                    <a:solidFill>
                      <a:srgbClr val="0F1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CFE3F7"/>
                          </a:solidFill>
                          <a:latin typeface="Inter"/>
                        </a:rPr>
                        <a:t>Shahare 2020 and Bhende 2026 both use alcohol sensors</a:t>
                      </a:r>
                    </a:p>
                  </a:txBody>
                  <a:tcPr marL="137160" marR="137160" marT="54864" marB="54864" anchor="ctr">
                    <a:solidFill>
                      <a:srgbClr val="0F1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CC8A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marL="137160" marR="137160" marT="54864" marB="54864" anchor="ctr">
                    <a:solidFill>
                      <a:srgbClr val="0F1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CC8A"/>
                          </a:solidFill>
                          <a:latin typeface="Inter"/>
                        </a:rPr>
                        <a:t>BUILD NOW</a:t>
                      </a:r>
                    </a:p>
                  </a:txBody>
                  <a:tcPr marL="137160" marR="137160" marT="54864" marB="54864" anchor="ctr">
                    <a:solidFill>
                      <a:srgbClr val="0F1E4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Vent channels + moisture-wicking liner  (M4)</a:t>
                      </a:r>
                    </a:p>
                  </a:txBody>
                  <a:tcPr marL="137160" marR="137160" marT="54864" marB="54864" anchor="ctr">
                    <a:solidFill>
                      <a:srgbClr val="1223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CFE3F7"/>
                          </a:solidFill>
                          <a:latin typeface="Inter"/>
                        </a:rPr>
                        <a:t>Heat / sweating 33.3% and discomfort 27.8% are the top barriers</a:t>
                      </a:r>
                    </a:p>
                  </a:txBody>
                  <a:tcPr marL="137160" marR="137160" marT="54864" marB="54864" anchor="ctr">
                    <a:solidFill>
                      <a:srgbClr val="1223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CFE3F7"/>
                          </a:solidFill>
                          <a:latin typeface="Inter"/>
                        </a:rPr>
                        <a:t>Reviewed papers focus on sensing; comfort is an open gap</a:t>
                      </a:r>
                    </a:p>
                  </a:txBody>
                  <a:tcPr marL="137160" marR="137160" marT="54864" marB="54864" anchor="ctr">
                    <a:solidFill>
                      <a:srgbClr val="1223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5B82E"/>
                          </a:solidFill>
                          <a:latin typeface="Inter"/>
                        </a:rPr>
                        <a:t>Medium</a:t>
                      </a:r>
                    </a:p>
                  </a:txBody>
                  <a:tcPr marL="137160" marR="137160" marT="54864" marB="54864" anchor="ctr">
                    <a:solidFill>
                      <a:srgbClr val="1223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CC8A"/>
                          </a:solidFill>
                          <a:latin typeface="Inter"/>
                        </a:rPr>
                        <a:t>BUILD NOW</a:t>
                      </a:r>
                    </a:p>
                  </a:txBody>
                  <a:tcPr marL="137160" marR="137160" marT="54864" marB="54864" anchor="ctr">
                    <a:solidFill>
                      <a:srgbClr val="12234D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Long-life battery + low-power sleep mode  (M5)</a:t>
                      </a:r>
                    </a:p>
                  </a:txBody>
                  <a:tcPr marL="137160" marR="137160" marT="54864" marB="54864" anchor="ctr">
                    <a:solidFill>
                      <a:srgbClr val="0F1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CFE3F7"/>
                          </a:solidFill>
                          <a:latin typeface="Inter"/>
                        </a:rPr>
                        <a:t>73.7% would use a smart helmet if comfortable and affordable</a:t>
                      </a:r>
                    </a:p>
                  </a:txBody>
                  <a:tcPr marL="137160" marR="137160" marT="54864" marB="54864" anchor="ctr">
                    <a:solidFill>
                      <a:srgbClr val="0F1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CFE3F7"/>
                          </a:solidFill>
                          <a:latin typeface="Inter"/>
                        </a:rPr>
                        <a:t>Rahman 2025/26: battery-efficient smart helmet</a:t>
                      </a:r>
                    </a:p>
                  </a:txBody>
                  <a:tcPr marL="137160" marR="137160" marT="54864" marB="54864" anchor="ctr">
                    <a:solidFill>
                      <a:srgbClr val="0F1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CC8A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marL="137160" marR="137160" marT="54864" marB="54864" anchor="ctr">
                    <a:solidFill>
                      <a:srgbClr val="0F1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CC8A"/>
                          </a:solidFill>
                          <a:latin typeface="Inter"/>
                        </a:rPr>
                        <a:t>BUILD NOW</a:t>
                      </a:r>
                    </a:p>
                  </a:txBody>
                  <a:tcPr marL="137160" marR="137160" marT="54864" marB="54864" anchor="ctr">
                    <a:solidFill>
                      <a:srgbClr val="0F1E4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Upgraded impact foam / shell  (M5)</a:t>
                      </a:r>
                    </a:p>
                  </a:txBody>
                  <a:tcPr marL="137160" marR="137160" marT="54864" marB="54864" anchor="ctr">
                    <a:solidFill>
                      <a:srgbClr val="1223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CFE3F7"/>
                          </a:solidFill>
                          <a:latin typeface="Inter"/>
                        </a:rPr>
                        <a:t>40% rank better impact protection as the top improvement</a:t>
                      </a:r>
                    </a:p>
                  </a:txBody>
                  <a:tcPr marL="137160" marR="137160" marT="54864" marB="54864" anchor="ctr">
                    <a:solidFill>
                      <a:srgbClr val="1223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CFE3F7"/>
                          </a:solidFill>
                          <a:latin typeface="Inter"/>
                        </a:rPr>
                        <a:t>Needs safety-standard testing before any claim</a:t>
                      </a:r>
                    </a:p>
                  </a:txBody>
                  <a:tcPr marL="137160" marR="137160" marT="54864" marB="54864" anchor="ctr">
                    <a:solidFill>
                      <a:srgbClr val="1223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6B5B"/>
                          </a:solidFill>
                          <a:latin typeface="Inter"/>
                        </a:rPr>
                        <a:t>Low</a:t>
                      </a:r>
                    </a:p>
                  </a:txBody>
                  <a:tcPr marL="137160" marR="137160" marT="54864" marB="54864" anchor="ctr">
                    <a:solidFill>
                      <a:srgbClr val="1223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5B82E"/>
                          </a:solidFill>
                          <a:latin typeface="Inter"/>
                        </a:rPr>
                        <a:t>PHASE 2</a:t>
                      </a:r>
                    </a:p>
                  </a:txBody>
                  <a:tcPr marL="137160" marR="137160" marT="54864" marB="54864" anchor="ctr">
                    <a:solidFill>
                      <a:srgbClr val="12234D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Buckle-strap + helmet-worn sensor  (M3)</a:t>
                      </a:r>
                    </a:p>
                  </a:txBody>
                  <a:tcPr marL="137160" marR="137160" marT="54864" marB="54864" anchor="ctr">
                    <a:solidFill>
                      <a:srgbClr val="0F1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CFE3F7"/>
                          </a:solidFill>
                          <a:latin typeface="Inter"/>
                        </a:rPr>
                        <a:t>Only 55.5% always / mostly wear a helmet</a:t>
                      </a:r>
                    </a:p>
                  </a:txBody>
                  <a:tcPr marL="137160" marR="137160" marT="54864" marB="54864" anchor="ctr">
                    <a:solidFill>
                      <a:srgbClr val="0F1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CFE3F7"/>
                          </a:solidFill>
                          <a:latin typeface="Inter"/>
                        </a:rPr>
                        <a:t>Shahare 2020 monitors helmet use</a:t>
                      </a:r>
                    </a:p>
                  </a:txBody>
                  <a:tcPr marL="137160" marR="137160" marT="54864" marB="54864" anchor="ctr">
                    <a:solidFill>
                      <a:srgbClr val="0F1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CC8A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marL="137160" marR="137160" marT="54864" marB="54864" anchor="ctr">
                    <a:solidFill>
                      <a:srgbClr val="0F1E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5B82E"/>
                          </a:solidFill>
                          <a:latin typeface="Inter"/>
                        </a:rPr>
                        <a:t>PHASE 2</a:t>
                      </a:r>
                    </a:p>
                  </a:txBody>
                  <a:tcPr marL="137160" marR="137160" marT="54864" marB="54864" anchor="ctr">
                    <a:solidFill>
                      <a:srgbClr val="0F1E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8952" y="219456"/>
            <a:ext cx="160020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ontserrat"/>
              </a:rPr>
              <a:t>Prototype — SafeRide Smart Helmet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115568"/>
            <a:ext cx="1600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A9BCD8"/>
                </a:solidFill>
                <a:latin typeface="Inter"/>
              </a:rPr>
              <a:t>Selected concept: a comfortable helmet that detects a crash, calls for help, warns of blind spots and flags unsafe riding.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1828800"/>
            <a:ext cx="10241280" cy="7863840"/>
          </a:xfrm>
          <a:prstGeom prst="roundRect">
            <a:avLst>
              <a:gd name="adj" fmla="val 2325"/>
            </a:avLst>
          </a:prstGeom>
          <a:solidFill>
            <a:srgbClr val="12234D"/>
          </a:solidFill>
          <a:ln w="19050">
            <a:solidFill>
              <a:srgbClr val="2A4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elmet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40280"/>
            <a:ext cx="9509760" cy="64377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88720" y="8732520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6B2B"/>
                </a:solidFill>
                <a:latin typeface="Inter"/>
              </a:rPr>
              <a:t>Active protection on top of a normal helmet:  </a:t>
            </a:r>
            <a:r>
              <a:rPr sz="1500" b="0">
                <a:solidFill>
                  <a:srgbClr val="CFE3F7"/>
                </a:solidFill>
                <a:latin typeface="Inter"/>
              </a:rPr>
              <a:t>sense → confirm → alert → warn, with vents and a light liner to keep riders comfortable.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247120" y="1828800"/>
            <a:ext cx="6281928" cy="7863840"/>
          </a:xfrm>
          <a:prstGeom prst="roundRect">
            <a:avLst>
              <a:gd name="adj" fmla="val 2911"/>
            </a:avLst>
          </a:prstGeom>
          <a:solidFill>
            <a:srgbClr val="12234D"/>
          </a:solidFill>
          <a:ln w="19050">
            <a:solidFill>
              <a:srgbClr val="2A4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67160" y="199339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6B2B"/>
                </a:solidFill>
                <a:latin typeface="Montserrat"/>
              </a:rPr>
              <a:t>COMPONENTS</a:t>
            </a:r>
          </a:p>
        </p:txBody>
      </p:sp>
      <p:sp>
        <p:nvSpPr>
          <p:cNvPr id="10" name="Oval 9"/>
          <p:cNvSpPr/>
          <p:nvPr/>
        </p:nvSpPr>
        <p:spPr>
          <a:xfrm>
            <a:off x="11567160" y="2596896"/>
            <a:ext cx="530352" cy="530352"/>
          </a:xfrm>
          <a:prstGeom prst="ellipse">
            <a:avLst/>
          </a:prstGeom>
          <a:solidFill>
            <a:srgbClr val="FF6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98680" y="2487168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Impact + IMU sensor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98680" y="279806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FE3F7"/>
                </a:solidFill>
                <a:latin typeface="Inter"/>
              </a:rPr>
              <a:t>Detects shock, free-fall and stillness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98680" y="305409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6B2B"/>
                </a:solidFill>
                <a:latin typeface="Inter"/>
              </a:rPr>
              <a:t>58.9% want crash detection</a:t>
            </a:r>
          </a:p>
        </p:txBody>
      </p:sp>
      <p:sp>
        <p:nvSpPr>
          <p:cNvPr id="14" name="Oval 13"/>
          <p:cNvSpPr/>
          <p:nvPr/>
        </p:nvSpPr>
        <p:spPr>
          <a:xfrm>
            <a:off x="11567160" y="3483864"/>
            <a:ext cx="530352" cy="530352"/>
          </a:xfrm>
          <a:prstGeom prst="ellipse">
            <a:avLst/>
          </a:prstGeom>
          <a:solidFill>
            <a:srgbClr val="2EC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0B1430"/>
                </a:solidFill>
                <a:latin typeface="Montserra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98680" y="3374136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Ventilation channels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98680" y="368503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FE3F7"/>
                </a:solidFill>
                <a:latin typeface="Inter"/>
              </a:rPr>
              <a:t>Airflow with a wicking liner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98680" y="3941064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ECC8A"/>
                </a:solidFill>
                <a:latin typeface="Inter"/>
              </a:rPr>
              <a:t>33.3% cite heat</a:t>
            </a:r>
          </a:p>
        </p:txBody>
      </p:sp>
      <p:sp>
        <p:nvSpPr>
          <p:cNvPr id="18" name="Oval 17"/>
          <p:cNvSpPr/>
          <p:nvPr/>
        </p:nvSpPr>
        <p:spPr>
          <a:xfrm>
            <a:off x="11567160" y="4370832"/>
            <a:ext cx="530352" cy="530352"/>
          </a:xfrm>
          <a:prstGeom prst="ellipse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98680" y="4261104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Rear ultrasonic radar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98680" y="45720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FE3F7"/>
                </a:solidFill>
                <a:latin typeface="Inter"/>
              </a:rPr>
              <a:t>Senses vehicles in blind spots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98680" y="4828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FA9F5"/>
                </a:solidFill>
                <a:latin typeface="Inter"/>
              </a:rPr>
              <a:t>70.5% back blind-spot help</a:t>
            </a:r>
          </a:p>
        </p:txBody>
      </p:sp>
      <p:sp>
        <p:nvSpPr>
          <p:cNvPr id="22" name="Oval 21"/>
          <p:cNvSpPr/>
          <p:nvPr/>
        </p:nvSpPr>
        <p:spPr>
          <a:xfrm>
            <a:off x="11567160" y="5257800"/>
            <a:ext cx="530352" cy="530352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98680" y="514807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Rear warning 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98680" y="545896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FE3F7"/>
                </a:solidFill>
                <a:latin typeface="Inter"/>
              </a:rPr>
              <a:t>Makes rider visible, flashes after a crash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98680" y="571500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6B5B"/>
                </a:solidFill>
                <a:latin typeface="Inter"/>
              </a:rPr>
              <a:t>Interview 2: unseen side traffic</a:t>
            </a:r>
          </a:p>
        </p:txBody>
      </p:sp>
      <p:sp>
        <p:nvSpPr>
          <p:cNvPr id="26" name="Oval 25"/>
          <p:cNvSpPr/>
          <p:nvPr/>
        </p:nvSpPr>
        <p:spPr>
          <a:xfrm>
            <a:off x="11567160" y="6144768"/>
            <a:ext cx="530352" cy="530352"/>
          </a:xfrm>
          <a:prstGeom prst="ellipse">
            <a:avLst/>
          </a:prstGeom>
          <a:solidFill>
            <a:srgbClr val="F5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0B1430"/>
                </a:solidFill>
                <a:latin typeface="Montserrat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98680" y="6035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Breath-alcohol sensor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98680" y="6345936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FE3F7"/>
                </a:solidFill>
                <a:latin typeface="Inter"/>
              </a:rPr>
              <a:t>Warns before the ride starts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98680" y="6601968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B82E"/>
                </a:solidFill>
                <a:latin typeface="Inter"/>
              </a:rPr>
              <a:t>26.3% top-feature pick</a:t>
            </a:r>
          </a:p>
        </p:txBody>
      </p:sp>
      <p:sp>
        <p:nvSpPr>
          <p:cNvPr id="30" name="Oval 29"/>
          <p:cNvSpPr/>
          <p:nvPr/>
        </p:nvSpPr>
        <p:spPr>
          <a:xfrm>
            <a:off x="11567160" y="7031736"/>
            <a:ext cx="530352" cy="530352"/>
          </a:xfrm>
          <a:prstGeom prst="ellipse">
            <a:avLst/>
          </a:prstGeom>
          <a:solidFill>
            <a:srgbClr val="F5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0B1430"/>
                </a:solidFill>
                <a:latin typeface="Montserrat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298680" y="6922007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Buckle-strap sensor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298680" y="7232903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FE3F7"/>
                </a:solidFill>
                <a:latin typeface="Inter"/>
              </a:rPr>
              <a:t>Confirms the helmet is fastened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98680" y="748893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B82E"/>
                </a:solidFill>
                <a:latin typeface="Inter"/>
              </a:rPr>
              <a:t>55.5% wear one always / mostly</a:t>
            </a:r>
          </a:p>
        </p:txBody>
      </p:sp>
      <p:sp>
        <p:nvSpPr>
          <p:cNvPr id="34" name="Oval 33"/>
          <p:cNvSpPr/>
          <p:nvPr/>
        </p:nvSpPr>
        <p:spPr>
          <a:xfrm>
            <a:off x="11567160" y="7918703"/>
            <a:ext cx="530352" cy="530352"/>
          </a:xfrm>
          <a:prstGeom prst="ellipse">
            <a:avLst/>
          </a:prstGeom>
          <a:solidFill>
            <a:srgbClr val="2EC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0B1430"/>
                </a:solidFill>
                <a:latin typeface="Montserrat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98680" y="7808975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Control unit + GPS / GSM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298680" y="8119871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FE3F7"/>
                </a:solidFill>
                <a:latin typeface="Inter"/>
              </a:rPr>
              <a:t>Confirms crash, sends SOS with location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298680" y="8375903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ECC8A"/>
                </a:solidFill>
                <a:latin typeface="Inter"/>
              </a:rPr>
              <a:t>70.5% value emergency alerts</a:t>
            </a:r>
          </a:p>
        </p:txBody>
      </p:sp>
      <p:sp>
        <p:nvSpPr>
          <p:cNvPr id="38" name="Oval 37"/>
          <p:cNvSpPr/>
          <p:nvPr/>
        </p:nvSpPr>
        <p:spPr>
          <a:xfrm>
            <a:off x="11567160" y="8805672"/>
            <a:ext cx="530352" cy="530352"/>
          </a:xfrm>
          <a:prstGeom prst="ellipse">
            <a:avLst/>
          </a:prstGeom>
          <a:solidFill>
            <a:srgbClr val="F5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0B1430"/>
                </a:solidFill>
                <a:latin typeface="Montserrat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298680" y="8695944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Battery pack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298680" y="90068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FE3F7"/>
                </a:solidFill>
                <a:latin typeface="Inter"/>
              </a:rPr>
              <a:t>USB-C charging, low-power sleep mode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98680" y="926287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B82E"/>
                </a:solidFill>
                <a:latin typeface="Inter"/>
              </a:rPr>
              <a:t>73.7% want it affordable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8952" y="219456"/>
            <a:ext cx="160020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ontserrat"/>
              </a:rPr>
              <a:t>Prototype — How It Works and How We Will Test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1417320"/>
            <a:ext cx="3097987" cy="2926080"/>
          </a:xfrm>
          <a:prstGeom prst="roundRect">
            <a:avLst>
              <a:gd name="adj" fmla="val 2500"/>
            </a:avLst>
          </a:prstGeom>
          <a:solidFill>
            <a:srgbClr val="12234D"/>
          </a:solidFill>
          <a:ln w="19050">
            <a:solidFill>
              <a:srgbClr val="2A4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45920"/>
            <a:ext cx="777240" cy="777240"/>
          </a:xfrm>
          <a:prstGeom prst="ellipse">
            <a:avLst/>
          </a:prstGeom>
          <a:solidFill>
            <a:srgbClr val="0D193A"/>
          </a:solidFill>
          <a:ln w="25400">
            <a:solidFill>
              <a:srgbClr val="FF6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1828800"/>
            <a:ext cx="411480" cy="411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47672" y="1691640"/>
            <a:ext cx="17721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9BCD8"/>
                </a:solidFill>
                <a:latin typeface="Montserrat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47672" y="1965960"/>
            <a:ext cx="17721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6B2B"/>
                </a:solidFill>
                <a:latin typeface="Montserrat"/>
              </a:rPr>
              <a:t>SENSE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697480"/>
            <a:ext cx="2640787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CFE3F7"/>
                </a:solidFill>
                <a:latin typeface="Inter"/>
              </a:rPr>
              <a:t>IMU and impact sensor read sudden shock, free-fall and tilt.</a:t>
            </a:r>
          </a:p>
        </p:txBody>
      </p:sp>
      <p:sp>
        <p:nvSpPr>
          <p:cNvPr id="10" name="Chevron 9"/>
          <p:cNvSpPr/>
          <p:nvPr/>
        </p:nvSpPr>
        <p:spPr>
          <a:xfrm>
            <a:off x="3893515" y="2697480"/>
            <a:ext cx="246888" cy="365760"/>
          </a:xfrm>
          <a:prstGeom prst="chevron">
            <a:avLst/>
          </a:prstGeom>
          <a:solidFill>
            <a:srgbClr val="FF6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76979" y="1417320"/>
            <a:ext cx="3097987" cy="2926080"/>
          </a:xfrm>
          <a:prstGeom prst="roundRect">
            <a:avLst>
              <a:gd name="adj" fmla="val 2500"/>
            </a:avLst>
          </a:prstGeom>
          <a:solidFill>
            <a:srgbClr val="12234D"/>
          </a:solidFill>
          <a:ln w="19050">
            <a:solidFill>
              <a:srgbClr val="2A4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05579" y="1645920"/>
            <a:ext cx="777240" cy="777240"/>
          </a:xfrm>
          <a:prstGeom prst="ellipse">
            <a:avLst/>
          </a:prstGeom>
          <a:solidFill>
            <a:srgbClr val="0D193A"/>
          </a:solidFill>
          <a:ln w="25400">
            <a:solidFill>
              <a:srgbClr val="F5B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1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8459" y="1828800"/>
            <a:ext cx="411480" cy="411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65699" y="1691640"/>
            <a:ext cx="17721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9BCD8"/>
                </a:solidFill>
                <a:latin typeface="Montserrat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65699" y="1965960"/>
            <a:ext cx="17721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B82E"/>
                </a:solidFill>
                <a:latin typeface="Montserrat"/>
              </a:rPr>
              <a:t>CONFIRM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5579" y="2697480"/>
            <a:ext cx="2640787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CFE3F7"/>
                </a:solidFill>
                <a:latin typeface="Inter"/>
              </a:rPr>
              <a:t>A crash counts only if impact is followed by stillness, which cuts false alarms (US20190357618A1).</a:t>
            </a:r>
          </a:p>
        </p:txBody>
      </p:sp>
      <p:sp>
        <p:nvSpPr>
          <p:cNvPr id="17" name="Chevron 16"/>
          <p:cNvSpPr/>
          <p:nvPr/>
        </p:nvSpPr>
        <p:spPr>
          <a:xfrm>
            <a:off x="7311542" y="2697480"/>
            <a:ext cx="246888" cy="365760"/>
          </a:xfrm>
          <a:prstGeom prst="chevron">
            <a:avLst/>
          </a:prstGeom>
          <a:solidFill>
            <a:srgbClr val="FF6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95006" y="1417320"/>
            <a:ext cx="3097987" cy="2926080"/>
          </a:xfrm>
          <a:prstGeom prst="roundRect">
            <a:avLst>
              <a:gd name="adj" fmla="val 2500"/>
            </a:avLst>
          </a:prstGeom>
          <a:solidFill>
            <a:srgbClr val="12234D"/>
          </a:solidFill>
          <a:ln w="19050">
            <a:solidFill>
              <a:srgbClr val="2A4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823606" y="1645920"/>
            <a:ext cx="777240" cy="777240"/>
          </a:xfrm>
          <a:prstGeom prst="ellipse">
            <a:avLst/>
          </a:prstGeom>
          <a:solidFill>
            <a:srgbClr val="0D193A"/>
          </a:solidFill>
          <a:ln w="25400">
            <a:solidFill>
              <a:srgbClr val="3FA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m1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6486" y="1828800"/>
            <a:ext cx="411480" cy="4114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783726" y="1691640"/>
            <a:ext cx="17721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9BCD8"/>
                </a:solidFill>
                <a:latin typeface="Montserrat"/>
              </a:rP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83726" y="1965960"/>
            <a:ext cx="17721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FA9F5"/>
                </a:solidFill>
                <a:latin typeface="Montserrat"/>
              </a:rPr>
              <a:t>COUNT DOWN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23606" y="2697480"/>
            <a:ext cx="2640787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CFE3F7"/>
                </a:solidFill>
                <a:latin typeface="Inter"/>
              </a:rPr>
              <a:t>Buzzer and app give 30 seconds to cancel with “I’m OK”.</a:t>
            </a:r>
          </a:p>
        </p:txBody>
      </p:sp>
      <p:sp>
        <p:nvSpPr>
          <p:cNvPr id="24" name="Chevron 23"/>
          <p:cNvSpPr/>
          <p:nvPr/>
        </p:nvSpPr>
        <p:spPr>
          <a:xfrm>
            <a:off x="10729569" y="2697480"/>
            <a:ext cx="246888" cy="365760"/>
          </a:xfrm>
          <a:prstGeom prst="chevron">
            <a:avLst/>
          </a:prstGeom>
          <a:solidFill>
            <a:srgbClr val="FF6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013033" y="1417320"/>
            <a:ext cx="3097987" cy="2926080"/>
          </a:xfrm>
          <a:prstGeom prst="roundRect">
            <a:avLst>
              <a:gd name="adj" fmla="val 2500"/>
            </a:avLst>
          </a:prstGeom>
          <a:solidFill>
            <a:srgbClr val="12234D"/>
          </a:solidFill>
          <a:ln w="19050">
            <a:solidFill>
              <a:srgbClr val="2A4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241633" y="1645920"/>
            <a:ext cx="777240" cy="777240"/>
          </a:xfrm>
          <a:prstGeom prst="ellipse">
            <a:avLst/>
          </a:prstGeom>
          <a:solidFill>
            <a:srgbClr val="0D193A"/>
          </a:solidFill>
          <a:ln w="25400">
            <a:solidFill>
              <a:srgbClr val="2EC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x_sm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24513" y="1828800"/>
            <a:ext cx="411480" cy="4114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201753" y="1691640"/>
            <a:ext cx="17721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9BCD8"/>
                </a:solidFill>
                <a:latin typeface="Montserrat"/>
              </a:rPr>
              <a:t>STEP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01753" y="1965960"/>
            <a:ext cx="17721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ECC8A"/>
                </a:solidFill>
                <a:latin typeface="Montserrat"/>
              </a:rPr>
              <a:t>ALERT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1633" y="2697480"/>
            <a:ext cx="2640787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CFE3F7"/>
                </a:solidFill>
                <a:latin typeface="Inter"/>
              </a:rPr>
              <a:t>GSM sends an SMS with a live GPS link to family and emergency contacts.</a:t>
            </a:r>
          </a:p>
        </p:txBody>
      </p:sp>
      <p:sp>
        <p:nvSpPr>
          <p:cNvPr id="31" name="Chevron 30"/>
          <p:cNvSpPr/>
          <p:nvPr/>
        </p:nvSpPr>
        <p:spPr>
          <a:xfrm>
            <a:off x="14147596" y="2697480"/>
            <a:ext cx="246888" cy="365760"/>
          </a:xfrm>
          <a:prstGeom prst="chevron">
            <a:avLst/>
          </a:prstGeom>
          <a:solidFill>
            <a:srgbClr val="FF6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4431060" y="1417320"/>
            <a:ext cx="3097987" cy="2926080"/>
          </a:xfrm>
          <a:prstGeom prst="roundRect">
            <a:avLst>
              <a:gd name="adj" fmla="val 2500"/>
            </a:avLst>
          </a:prstGeom>
          <a:solidFill>
            <a:srgbClr val="12234D"/>
          </a:solidFill>
          <a:ln w="19050">
            <a:solidFill>
              <a:srgbClr val="2A4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659660" y="1645920"/>
            <a:ext cx="777240" cy="777240"/>
          </a:xfrm>
          <a:prstGeom prst="ellipse">
            <a:avLst/>
          </a:prstGeom>
          <a:solidFill>
            <a:srgbClr val="0D193A"/>
          </a:solidFill>
          <a:ln w="25400">
            <a:solidFill>
              <a:srgbClr val="FF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x_ambula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42540" y="1828800"/>
            <a:ext cx="411480" cy="4114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5619780" y="1691640"/>
            <a:ext cx="17721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9BCD8"/>
                </a:solidFill>
                <a:latin typeface="Montserrat"/>
              </a:rPr>
              <a:t>STEP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619780" y="1965960"/>
            <a:ext cx="17721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6B5B"/>
                </a:solidFill>
                <a:latin typeface="Montserrat"/>
              </a:rPr>
              <a:t>RESPOND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59660" y="2697480"/>
            <a:ext cx="2640787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CFE3F7"/>
                </a:solidFill>
                <a:latin typeface="Inter"/>
              </a:rPr>
              <a:t>Siren and rear LED guide bystanders; one tap calls 112.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" y="4617720"/>
            <a:ext cx="1325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6B2B"/>
                </a:solidFill>
                <a:latin typeface="Montserrat"/>
              </a:rPr>
              <a:t>TEST TARGETS — benchmarked on the 2026 low-cost smart-helmet study from our secondary research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8952" y="5120640"/>
            <a:ext cx="4251960" cy="224028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1" y="5303520"/>
            <a:ext cx="37033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" b="1">
                <a:solidFill>
                  <a:srgbClr val="2ECC8A"/>
                </a:solidFill>
                <a:latin typeface="Montserrat"/>
              </a:rPr>
              <a:t>93.7%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1" y="6492240"/>
            <a:ext cx="3703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B2A4A"/>
                </a:solidFill>
                <a:latin typeface="Inter"/>
              </a:rPr>
              <a:t>crash-detection accuracy to match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93792" y="5120640"/>
            <a:ext cx="4251960" cy="224028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68112" y="5303520"/>
            <a:ext cx="37033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" b="1">
                <a:solidFill>
                  <a:srgbClr val="FF6B5B"/>
                </a:solidFill>
                <a:latin typeface="Montserrat"/>
              </a:rPr>
              <a:t>≤ 2.6%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68112" y="6492240"/>
            <a:ext cx="3703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B2A4A"/>
                </a:solidFill>
                <a:latin typeface="Inter"/>
              </a:rPr>
              <a:t>false-positive rate to stay under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28632" y="5120640"/>
            <a:ext cx="4251960" cy="224028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2952" y="5303520"/>
            <a:ext cx="37033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" b="1">
                <a:solidFill>
                  <a:srgbClr val="FF6B2B"/>
                </a:solidFill>
                <a:latin typeface="Montserrat"/>
              </a:rPr>
              <a:t>≤ 2.8 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02952" y="6492240"/>
            <a:ext cx="3703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B2A4A"/>
                </a:solidFill>
                <a:latin typeface="Inter"/>
              </a:rPr>
              <a:t>crash-to-alert time to beat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8952" y="7589520"/>
            <a:ext cx="13121640" cy="2103120"/>
          </a:xfrm>
          <a:prstGeom prst="roundRect">
            <a:avLst>
              <a:gd name="adj" fmla="val 3478"/>
            </a:avLst>
          </a:prstGeom>
          <a:solidFill>
            <a:srgbClr val="12234D"/>
          </a:solidFill>
          <a:ln w="19050">
            <a:solidFill>
              <a:srgbClr val="2A4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7772400"/>
            <a:ext cx="1252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6B2B"/>
                </a:solidFill>
                <a:latin typeface="Montserrat"/>
              </a:rPr>
              <a:t>NEXT: TEST WITH REAL USERS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" y="8275320"/>
            <a:ext cx="12527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CFE3F7"/>
                </a:solidFill>
                <a:latin typeface="Inter"/>
              </a:rPr>
              <a:t>1.  Bench-test the sensors and the 30-second countdown with a simulated impact.</a:t>
            </a:r>
          </a:p>
          <a:p>
            <a:pPr algn="l">
              <a:lnSpc>
                <a:spcPct val="120000"/>
              </a:lnSpc>
            </a:pPr>
            <a:r>
              <a:rPr sz="1600" b="0">
                <a:solidFill>
                  <a:srgbClr val="CFE3F7"/>
                </a:solidFill>
                <a:latin typeface="Inter"/>
              </a:rPr>
              <a:t>2.  Trial the vents and liner on riders and compare heat / sweat against a conventional helmet.</a:t>
            </a:r>
          </a:p>
          <a:p>
            <a:pPr algn="l">
              <a:lnSpc>
                <a:spcPct val="120000"/>
              </a:lnSpc>
            </a:pPr>
            <a:r>
              <a:rPr sz="1600" b="0">
                <a:solidFill>
                  <a:srgbClr val="CFE3F7"/>
                </a:solidFill>
                <a:latin typeface="Inter"/>
              </a:rPr>
              <a:t>3.  Show the alert screen to family contacts, then feed what we learn back into the design.</a:t>
            </a:r>
          </a:p>
        </p:txBody>
      </p:sp>
      <p:pic>
        <p:nvPicPr>
          <p:cNvPr id="51" name="Picture 50" descr="pho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28993" y="4572000"/>
            <a:ext cx="2535701" cy="4709159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4264640" y="9354312"/>
            <a:ext cx="3264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A9BCD8"/>
                </a:solidFill>
                <a:latin typeface="Inter"/>
              </a:rPr>
              <a:t>Alert seen by the rider’s family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2052</Words>
  <Application>Microsoft Office PowerPoint</Application>
  <PresentationFormat>Custom</PresentationFormat>
  <Paragraphs>246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Algerian</vt:lpstr>
      <vt:lpstr>Arial</vt:lpstr>
      <vt:lpstr>Arial Black</vt:lpstr>
      <vt:lpstr>Calibri</vt:lpstr>
      <vt:lpstr>Gloucester MT Extra Condensed</vt:lpstr>
      <vt:lpstr>Inter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72b742db-2708-4a1e-9331-bfd99382ccca</dc:title>
  <dc:subject>Presentation Export</dc:subject>
  <dc:creator>Design Export</dc:creator>
  <cp:lastModifiedBy>Saiansh beuria</cp:lastModifiedBy>
  <cp:revision>5</cp:revision>
  <dcterms:created xsi:type="dcterms:W3CDTF">2026-10-07T06:58:25Z</dcterms:created>
  <dcterms:modified xsi:type="dcterms:W3CDTF">2026-10-28T10:49:46Z</dcterms:modified>
</cp:coreProperties>
</file>